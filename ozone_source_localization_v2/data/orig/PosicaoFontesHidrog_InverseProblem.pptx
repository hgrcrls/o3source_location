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43"/>
  </p:handoutMasterIdLst>
  <p:sldIdLst>
    <p:sldId id="256" r:id="rId3"/>
    <p:sldId id="262" r:id="rId4"/>
    <p:sldId id="258" r:id="rId5"/>
    <p:sldId id="257" r:id="rId6"/>
    <p:sldId id="261" r:id="rId7"/>
    <p:sldId id="266" r:id="rId9"/>
    <p:sldId id="267" r:id="rId10"/>
    <p:sldId id="268" r:id="rId11"/>
    <p:sldId id="269" r:id="rId12"/>
    <p:sldId id="270" r:id="rId13"/>
    <p:sldId id="274" r:id="rId14"/>
    <p:sldId id="275" r:id="rId15"/>
    <p:sldId id="276" r:id="rId16"/>
    <p:sldId id="272" r:id="rId17"/>
    <p:sldId id="271" r:id="rId18"/>
    <p:sldId id="279" r:id="rId19"/>
    <p:sldId id="281" r:id="rId20"/>
    <p:sldId id="280" r:id="rId21"/>
    <p:sldId id="282" r:id="rId22"/>
    <p:sldId id="284" r:id="rId23"/>
    <p:sldId id="285" r:id="rId24"/>
    <p:sldId id="286" r:id="rId25"/>
    <p:sldId id="287" r:id="rId26"/>
    <p:sldId id="289" r:id="rId27"/>
    <p:sldId id="288" r:id="rId28"/>
    <p:sldId id="290" r:id="rId29"/>
    <p:sldId id="291" r:id="rId30"/>
    <p:sldId id="292" r:id="rId31"/>
    <p:sldId id="294" r:id="rId32"/>
    <p:sldId id="293" r:id="rId33"/>
    <p:sldId id="296" r:id="rId34"/>
    <p:sldId id="298" r:id="rId35"/>
    <p:sldId id="295" r:id="rId36"/>
    <p:sldId id="302" r:id="rId37"/>
    <p:sldId id="297" r:id="rId38"/>
    <p:sldId id="308" r:id="rId39"/>
    <p:sldId id="299" r:id="rId40"/>
    <p:sldId id="303" r:id="rId41"/>
    <p:sldId id="300" r:id="rId4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39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HG01b"/>
          <p:cNvPicPr>
            <a:picLocks noChangeAspect="1"/>
          </p:cNvPicPr>
          <p:nvPr/>
        </p:nvPicPr>
        <p:blipFill>
          <a:blip r:embed="rId1"/>
          <a:srcRect l="7845" r="8096"/>
          <a:stretch>
            <a:fillRect/>
          </a:stretch>
        </p:blipFill>
        <p:spPr>
          <a:xfrm rot="20280000">
            <a:off x="3265805" y="678180"/>
            <a:ext cx="5313680" cy="548195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070215" y="3404235"/>
            <a:ext cx="37528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altLang="en-US" sz="1400" b="1" i="1">
                <a:solidFill>
                  <a:srgbClr val="FFC000"/>
                </a:solidFill>
              </a:rPr>
              <a:t>R</a:t>
            </a:r>
            <a:r>
              <a:rPr lang="pt-PT" altLang="en-US" sz="1400" b="1" baseline="-25000">
                <a:solidFill>
                  <a:srgbClr val="FFC000"/>
                </a:solidFill>
              </a:rPr>
              <a:t>1</a:t>
            </a:r>
            <a:endParaRPr lang="pt-PT" altLang="en-US" sz="1400" b="1" baseline="-25000">
              <a:solidFill>
                <a:srgbClr val="FFC000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256395" y="3140710"/>
            <a:ext cx="3778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altLang="en-US" sz="2800" i="1">
                <a:latin typeface="Symbol" panose="05050102010706020507" charset="0"/>
                <a:cs typeface="Symbol" panose="05050102010706020507" charset="0"/>
              </a:rPr>
              <a:t>r</a:t>
            </a:r>
            <a:endParaRPr lang="pt-PT" altLang="en-US" sz="2800" i="1">
              <a:latin typeface="Symbol" panose="05050102010706020507" charset="0"/>
              <a:cs typeface="Symbol" panose="05050102010706020507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8096885" y="3095625"/>
            <a:ext cx="0" cy="666750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16" idx="2"/>
          </p:cNvCxnSpPr>
          <p:nvPr/>
        </p:nvCxnSpPr>
        <p:spPr>
          <a:xfrm flipV="1">
            <a:off x="5897880" y="2172970"/>
            <a:ext cx="3123565" cy="1231265"/>
          </a:xfrm>
          <a:prstGeom prst="straightConnector1">
            <a:avLst/>
          </a:prstGeom>
          <a:ln w="3175">
            <a:solidFill>
              <a:schemeClr val="bg1"/>
            </a:solidFill>
            <a:headEnd type="oval" w="lg" len="lg"/>
            <a:tailEnd type="none" w="med" len="med"/>
          </a:ln>
          <a:effectLst>
            <a:glow rad="63500">
              <a:srgbClr val="202020">
                <a:alpha val="40000"/>
              </a:srgb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907405" y="3413760"/>
            <a:ext cx="3121660" cy="1302385"/>
          </a:xfrm>
          <a:prstGeom prst="straightConnector1">
            <a:avLst/>
          </a:prstGeom>
          <a:ln w="3175">
            <a:solidFill>
              <a:schemeClr val="bg1"/>
            </a:solidFill>
            <a:headEnd type="oval" w="lg" len="lg"/>
            <a:tailEnd type="none" w="med" len="med"/>
          </a:ln>
          <a:effectLst>
            <a:glow rad="63500">
              <a:srgbClr val="202020">
                <a:alpha val="40000"/>
              </a:srgb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907405" y="3395980"/>
            <a:ext cx="3314065" cy="1143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arrow" w="med" len="med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" name="Rectangles 1"/>
          <p:cNvSpPr/>
          <p:nvPr/>
        </p:nvSpPr>
        <p:spPr>
          <a:xfrm>
            <a:off x="2805430" y="609600"/>
            <a:ext cx="2931795" cy="5704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s 2"/>
          <p:cNvSpPr/>
          <p:nvPr/>
        </p:nvSpPr>
        <p:spPr>
          <a:xfrm rot="3900000">
            <a:off x="3717290" y="-1233805"/>
            <a:ext cx="2931795" cy="5704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/>
        </p:nvSpPr>
        <p:spPr>
          <a:xfrm rot="17700000" flipV="1">
            <a:off x="4351020" y="2684145"/>
            <a:ext cx="2931795" cy="5704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8781415" y="4756150"/>
            <a:ext cx="1463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i="1">
                <a:solidFill>
                  <a:srgbClr val="FF0000"/>
                </a:solidFill>
                <a:latin typeface="Symbol" panose="05050102010706020507" charset="0"/>
                <a:cs typeface="Symbol" panose="05050102010706020507" charset="0"/>
              </a:rPr>
              <a:t>f </a:t>
            </a:r>
            <a:r>
              <a:rPr lang="pt-PT" altLang="en-US">
                <a:solidFill>
                  <a:srgbClr val="FF0000"/>
                </a:solidFill>
                <a:latin typeface="Symbol" panose="05050102010706020507" charset="0"/>
                <a:cs typeface="Symbol" panose="05050102010706020507" charset="0"/>
              </a:rPr>
              <a:t>= -22.5°</a:t>
            </a:r>
            <a:endParaRPr lang="pt-PT" altLang="en-US">
              <a:solidFill>
                <a:srgbClr val="FF0000"/>
              </a:solidFill>
              <a:latin typeface="Symbol" panose="05050102010706020507" charset="0"/>
              <a:cs typeface="Symbol" panose="05050102010706020507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908040" y="3399155"/>
            <a:ext cx="3297555" cy="905510"/>
          </a:xfrm>
          <a:prstGeom prst="straightConnector1">
            <a:avLst/>
          </a:prstGeom>
          <a:ln w="3175">
            <a:solidFill>
              <a:schemeClr val="bg1"/>
            </a:solidFill>
            <a:headEnd type="oval" w="lg" len="lg"/>
            <a:tailEnd type="none" w="med" len="med"/>
          </a:ln>
          <a:effectLst>
            <a:glow rad="63500">
              <a:srgbClr val="202020">
                <a:alpha val="40000"/>
              </a:srgb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897880" y="3395980"/>
            <a:ext cx="3450590" cy="453390"/>
          </a:xfrm>
          <a:prstGeom prst="straightConnector1">
            <a:avLst/>
          </a:prstGeom>
          <a:ln w="3175">
            <a:solidFill>
              <a:schemeClr val="bg1"/>
            </a:solidFill>
            <a:headEnd type="oval" w="lg" len="lg"/>
            <a:tailEnd type="none" w="med" len="med"/>
          </a:ln>
          <a:effectLst>
            <a:glow rad="63500">
              <a:srgbClr val="202020">
                <a:alpha val="40000"/>
              </a:srgb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5897880" y="2584450"/>
            <a:ext cx="3312795" cy="814705"/>
          </a:xfrm>
          <a:prstGeom prst="straightConnector1">
            <a:avLst/>
          </a:prstGeom>
          <a:ln w="3175">
            <a:solidFill>
              <a:schemeClr val="bg1"/>
            </a:solidFill>
            <a:headEnd type="oval" w="lg" len="lg"/>
            <a:tailEnd type="none" w="med" len="med"/>
          </a:ln>
          <a:effectLst>
            <a:glow rad="63500">
              <a:srgbClr val="202020">
                <a:alpha val="40000"/>
              </a:srgb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Arc 8"/>
          <p:cNvSpPr/>
          <p:nvPr/>
        </p:nvSpPr>
        <p:spPr>
          <a:xfrm rot="1980000">
            <a:off x="4992370" y="2155190"/>
            <a:ext cx="749300" cy="626110"/>
          </a:xfrm>
          <a:prstGeom prst="arc">
            <a:avLst>
              <a:gd name="adj1" fmla="val 17075939"/>
              <a:gd name="adj2" fmla="val 20983319"/>
            </a:avLst>
          </a:prstGeom>
          <a:noFill/>
          <a:ln w="25400">
            <a:solidFill>
              <a:srgbClr val="C0000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5902960" y="3002280"/>
            <a:ext cx="3413760" cy="394335"/>
          </a:xfrm>
          <a:prstGeom prst="straightConnector1">
            <a:avLst/>
          </a:prstGeom>
          <a:ln w="3175">
            <a:solidFill>
              <a:schemeClr val="bg1"/>
            </a:solidFill>
            <a:headEnd type="oval" w="lg" len="lg"/>
            <a:tailEnd type="none" w="med" len="med"/>
          </a:ln>
          <a:effectLst>
            <a:glow rad="63500">
              <a:srgbClr val="202020">
                <a:alpha val="40000"/>
              </a:srgb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5737225" y="1656715"/>
            <a:ext cx="14846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8655685" y="1795145"/>
            <a:ext cx="1659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i="1">
                <a:solidFill>
                  <a:srgbClr val="FF0000"/>
                </a:solidFill>
                <a:latin typeface="Symbol" panose="05050102010706020507" charset="0"/>
                <a:cs typeface="Symbol" panose="05050102010706020507" charset="0"/>
              </a:rPr>
              <a:t>f </a:t>
            </a:r>
            <a:r>
              <a:rPr lang="pt-PT" altLang="en-US">
                <a:solidFill>
                  <a:srgbClr val="FF0000"/>
                </a:solidFill>
                <a:latin typeface="Symbol" panose="05050102010706020507" charset="0"/>
                <a:cs typeface="Symbol" panose="05050102010706020507" charset="0"/>
              </a:rPr>
              <a:t>= 22.5°</a:t>
            </a:r>
            <a:endParaRPr lang="pt-PT" altLang="en-US">
              <a:solidFill>
                <a:srgbClr val="FF0000"/>
              </a:solidFill>
              <a:latin typeface="Symbol" panose="05050102010706020507" charset="0"/>
              <a:cs typeface="Symbol" panose="05050102010706020507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9371330" y="2773680"/>
            <a:ext cx="919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 i="1">
                <a:solidFill>
                  <a:srgbClr val="FF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FF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FF0000"/>
              </a:solidFill>
              <a:latin typeface="Symbol" panose="05050102010706020507" charset="0"/>
              <a:cs typeface="Symbol" panose="05050102010706020507" charset="0"/>
              <a:sym typeface="+mn-ea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9256395" y="2284095"/>
            <a:ext cx="8623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 i="1">
                <a:solidFill>
                  <a:srgbClr val="FF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FF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15°</a:t>
            </a:r>
            <a:endParaRPr lang="pt-PT" altLang="en-US">
              <a:solidFill>
                <a:srgbClr val="FF0000"/>
              </a:solidFill>
              <a:latin typeface="Symbol" panose="05050102010706020507" charset="0"/>
              <a:cs typeface="Symbol" panose="05050102010706020507" charset="0"/>
              <a:sym typeface="+mn-ea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9376410" y="3703320"/>
            <a:ext cx="10452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 i="1">
                <a:solidFill>
                  <a:srgbClr val="FF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FF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-7.5°</a:t>
            </a:r>
            <a:endParaRPr lang="pt-PT" altLang="en-US">
              <a:solidFill>
                <a:srgbClr val="FF0000"/>
              </a:solidFill>
              <a:latin typeface="Symbol" panose="05050102010706020507" charset="0"/>
              <a:cs typeface="Symbol" panose="05050102010706020507" charset="0"/>
              <a:sym typeface="+mn-ea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9192895" y="4235450"/>
            <a:ext cx="98806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 i="1">
                <a:solidFill>
                  <a:srgbClr val="FF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FF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-15°</a:t>
            </a:r>
            <a:endParaRPr lang="pt-PT" altLang="en-US">
              <a:solidFill>
                <a:srgbClr val="FF0000"/>
              </a:solidFill>
              <a:latin typeface="Symbol" panose="05050102010706020507" charset="0"/>
              <a:cs typeface="Symbol" panose="05050102010706020507" charset="0"/>
              <a:sym typeface="+mn-ea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9741535" y="3238500"/>
            <a:ext cx="748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 i="1">
                <a:solidFill>
                  <a:srgbClr val="FF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FF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0°</a:t>
            </a:r>
            <a:endParaRPr lang="pt-PT" altLang="en-US">
              <a:solidFill>
                <a:srgbClr val="FF0000"/>
              </a:solidFill>
              <a:latin typeface="Symbol" panose="05050102010706020507" charset="0"/>
              <a:cs typeface="Symbol" panose="05050102010706020507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737225" y="4373880"/>
            <a:ext cx="1354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1600" i="1">
                <a:solidFill>
                  <a:schemeClr val="tx1"/>
                </a:solidFill>
                <a:latin typeface="Symbol" panose="05050102010706020507" charset="0"/>
                <a:cs typeface="Symbol" panose="05050102010706020507" charset="0"/>
              </a:rPr>
              <a:t>r</a:t>
            </a:r>
            <a:r>
              <a:rPr lang="pt-PT" altLang="en-US" sz="1000">
                <a:solidFill>
                  <a:schemeClr val="tx1"/>
                </a:solidFill>
                <a:latin typeface="Symbol" panose="05050102010706020507" charset="0"/>
                <a:cs typeface="Symbol" panose="05050102010706020507" charset="0"/>
              </a:rPr>
              <a:t>1</a:t>
            </a:r>
            <a:r>
              <a:rPr lang="pt-PT" altLang="en-US" sz="1600">
                <a:solidFill>
                  <a:schemeClr val="tx1"/>
                </a:solidFill>
                <a:latin typeface="Symbol" panose="05050102010706020507" charset="0"/>
                <a:cs typeface="Symbol" panose="05050102010706020507" charset="0"/>
              </a:rPr>
              <a:t> = </a:t>
            </a:r>
            <a:r>
              <a:rPr lang="pt-PT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3810 mm</a:t>
            </a:r>
            <a:endParaRPr lang="pt-PT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pt-PT" altLang="en-US" sz="1600" i="1">
                <a:solidFill>
                  <a:schemeClr val="tx1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</a:t>
            </a:r>
            <a:r>
              <a:rPr lang="pt-PT" altLang="en-US" sz="1000">
                <a:solidFill>
                  <a:schemeClr val="tx1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2</a:t>
            </a:r>
            <a:r>
              <a:rPr lang="pt-PT" altLang="en-US" sz="1600">
                <a:solidFill>
                  <a:schemeClr val="tx1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 = </a:t>
            </a:r>
            <a:r>
              <a:rPr lang="pt-PT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3951 mm</a:t>
            </a:r>
            <a:endParaRPr lang="pt-PT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7068820" y="3891915"/>
            <a:ext cx="31750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 sz="1200" i="1">
                <a:solidFill>
                  <a:schemeClr val="bg1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</a:t>
            </a:r>
            <a:r>
              <a:rPr lang="pt-PT" altLang="en-US" sz="800">
                <a:solidFill>
                  <a:schemeClr val="bg1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endParaRPr lang="pt-PT" altLang="en-US" sz="800">
              <a:solidFill>
                <a:schemeClr val="bg1"/>
              </a:solidFill>
              <a:latin typeface="Symbol" panose="05050102010706020507" charset="0"/>
              <a:cs typeface="Symbol" panose="05050102010706020507" charset="0"/>
              <a:sym typeface="+mn-ea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7330440" y="4002405"/>
            <a:ext cx="73025" cy="29845"/>
          </a:xfrm>
          <a:prstGeom prst="straightConnector1">
            <a:avLst/>
          </a:prstGeom>
          <a:ln w="3175" cap="flat">
            <a:solidFill>
              <a:schemeClr val="bg1"/>
            </a:solidFill>
            <a:headEnd type="oval" w="sm" len="sm"/>
            <a:tailEnd type="oval" w="sm" len="sm"/>
          </a:ln>
          <a:effectLst>
            <a:glow rad="63500">
              <a:srgbClr val="202020">
                <a:alpha val="40000"/>
              </a:srgb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9" name="Text Box 28"/>
          <p:cNvSpPr txBox="1"/>
          <p:nvPr/>
        </p:nvSpPr>
        <p:spPr>
          <a:xfrm>
            <a:off x="7259320" y="3975100"/>
            <a:ext cx="3746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PT" altLang="en-US" sz="1200" i="1">
                <a:solidFill>
                  <a:schemeClr val="bg1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</a:t>
            </a:r>
            <a:r>
              <a:rPr lang="pt-PT" altLang="en-US" sz="800">
                <a:solidFill>
                  <a:schemeClr val="bg1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2</a:t>
            </a:r>
            <a:endParaRPr lang="pt-PT" altLang="en-US" sz="800">
              <a:solidFill>
                <a:schemeClr val="bg1"/>
              </a:solidFill>
              <a:latin typeface="Symbol" panose="05050102010706020507" charset="0"/>
              <a:cs typeface="Symbol" panose="05050102010706020507" charset="0"/>
              <a:sym typeface="+mn-ea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7232650" y="5081905"/>
            <a:ext cx="17278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400">
                <a:solidFill>
                  <a:schemeClr val="accent1">
                    <a:lumMod val="75000"/>
                  </a:schemeClr>
                </a:solidFill>
              </a:rPr>
              <a:t>𝑉</a:t>
            </a:r>
            <a:r>
              <a:rPr lang="pt-PT" altLang="en-US" sz="1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400">
                <a:solidFill>
                  <a:schemeClr val="accent1">
                    <a:lumMod val="75000"/>
                  </a:schemeClr>
                </a:solidFill>
              </a:rPr>
              <a:t>≈</a:t>
            </a:r>
            <a:r>
              <a:rPr lang="pt-PT" altLang="en-US" sz="1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400">
                <a:solidFill>
                  <a:schemeClr val="accent1">
                    <a:lumMod val="75000"/>
                  </a:schemeClr>
                </a:solidFill>
              </a:rPr>
              <a:t>0,06016234 m</a:t>
            </a:r>
            <a:r>
              <a:rPr lang="pt-PT" altLang="en-US" sz="1400">
                <a:solidFill>
                  <a:schemeClr val="accent1">
                    <a:lumMod val="75000"/>
                  </a:schemeClr>
                </a:solidFill>
              </a:rPr>
              <a:t>³</a:t>
            </a:r>
            <a:endParaRPr lang="pt-PT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42970" y="97790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5538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3545205" y="1261110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S11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4431030" y="1261110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S12</a:t>
            </a:r>
            <a:endParaRPr lang="pt-PT" altLang="en-US" sz="2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5337175" y="1261110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S13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6200775" y="1261110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S14</a:t>
            </a:r>
            <a:endParaRPr lang="pt-PT" altLang="en-US" sz="2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7082790" y="1261110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S15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3559175" y="3187700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S31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559175" y="5145405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S51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4441190" y="2225040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S22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6200775" y="2225040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S24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7970520" y="2225675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S26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5337175" y="3229610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S33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7082790" y="3187700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S35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4441190" y="4150995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S42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200775" y="4150995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S44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7964805" y="4152265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S46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7082790" y="5145405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S55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5323205" y="5145405"/>
            <a:ext cx="649605" cy="39878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pt-PT" altLang="en-US" sz="2000" b="1">
                <a:solidFill>
                  <a:srgbClr val="FF0000"/>
                </a:solidFill>
                <a:effectLst>
                  <a:glow rad="228600">
                    <a:schemeClr val="bg1">
                      <a:alpha val="8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S53</a:t>
            </a:r>
            <a:endParaRPr lang="pt-PT" altLang="en-US" sz="2000" b="1">
              <a:solidFill>
                <a:srgbClr val="FF0000"/>
              </a:solidFill>
              <a:effectLst>
                <a:glow rad="228600">
                  <a:schemeClr val="bg1">
                    <a:alpha val="8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761365" y="580390"/>
            <a:ext cx="153543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Posição radial</a:t>
            </a:r>
            <a:endParaRPr lang="pt-PT" altLang="en-US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pt-PT" altLang="en-US" i="1">
                <a:latin typeface="Symbol" panose="05050102010706020507" charset="0"/>
                <a:cs typeface="Symbol" panose="05050102010706020507" charset="0"/>
                <a:sym typeface="+mn-ea"/>
              </a:rPr>
              <a:t>r</a:t>
            </a:r>
            <a:r>
              <a:rPr lang="pt-PT" altLang="en-US">
                <a:latin typeface="Symbol" panose="05050102010706020507" charset="0"/>
                <a:cs typeface="Symbol" panose="05050102010706020507" charset="0"/>
                <a:sym typeface="+mn-ea"/>
              </a:rPr>
              <a:t>2 = </a:t>
            </a:r>
            <a:r>
              <a:rPr lang="pt-PT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3951 mm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HG01b"/>
          <p:cNvPicPr>
            <a:picLocks noChangeAspect="1"/>
          </p:cNvPicPr>
          <p:nvPr/>
        </p:nvPicPr>
        <p:blipFill>
          <a:blip r:embed="rId1"/>
          <a:srcRect l="7845" r="8096"/>
          <a:stretch>
            <a:fillRect/>
          </a:stretch>
        </p:blipFill>
        <p:spPr>
          <a:xfrm rot="20280000">
            <a:off x="3265805" y="678180"/>
            <a:ext cx="5313680" cy="548195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096885" y="3518535"/>
            <a:ext cx="5137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altLang="en-US" sz="2400" b="1" i="1">
                <a:solidFill>
                  <a:srgbClr val="FFC000"/>
                </a:solidFill>
              </a:rPr>
              <a:t>R</a:t>
            </a:r>
            <a:r>
              <a:rPr lang="pt-PT" altLang="en-US" sz="2400" b="1" baseline="-25000">
                <a:solidFill>
                  <a:srgbClr val="FFC000"/>
                </a:solidFill>
              </a:rPr>
              <a:t>1</a:t>
            </a:r>
            <a:endParaRPr lang="pt-PT" altLang="en-US" sz="2400" b="1" baseline="-25000">
              <a:solidFill>
                <a:srgbClr val="FFC000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256395" y="3140710"/>
            <a:ext cx="3778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altLang="en-US" sz="2800" i="1">
                <a:latin typeface="Symbol" panose="05050102010706020507" charset="0"/>
                <a:cs typeface="Symbol" panose="05050102010706020507" charset="0"/>
              </a:rPr>
              <a:t>r</a:t>
            </a:r>
            <a:endParaRPr lang="pt-PT" altLang="en-US" sz="2800" i="1">
              <a:latin typeface="Symbol" panose="05050102010706020507" charset="0"/>
              <a:cs typeface="Symbol" panose="05050102010706020507" charset="0"/>
            </a:endParaRPr>
          </a:p>
        </p:txBody>
      </p:sp>
      <p:sp>
        <p:nvSpPr>
          <p:cNvPr id="9" name="Arc 8"/>
          <p:cNvSpPr/>
          <p:nvPr/>
        </p:nvSpPr>
        <p:spPr>
          <a:xfrm rot="1980000">
            <a:off x="7004050" y="2030095"/>
            <a:ext cx="2000885" cy="1935480"/>
          </a:xfrm>
          <a:prstGeom prst="arc">
            <a:avLst>
              <a:gd name="adj1" fmla="val 17075939"/>
              <a:gd name="adj2" fmla="val 20983319"/>
            </a:avLst>
          </a:prstGeom>
          <a:noFill/>
          <a:ln w="25400">
            <a:solidFill>
              <a:srgbClr val="C0000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8930640" y="2444115"/>
            <a:ext cx="3638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3200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</a:rPr>
              <a:t>f</a:t>
            </a:r>
            <a:endParaRPr lang="pt-PT" altLang="en-US" sz="3200" i="1">
              <a:solidFill>
                <a:srgbClr val="C00000"/>
              </a:solidFill>
              <a:latin typeface="Symbol" panose="05050102010706020507" charset="0"/>
              <a:cs typeface="Symbol" panose="05050102010706020507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8096885" y="3095625"/>
            <a:ext cx="0" cy="666750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16" idx="2"/>
          </p:cNvCxnSpPr>
          <p:nvPr/>
        </p:nvCxnSpPr>
        <p:spPr>
          <a:xfrm flipV="1">
            <a:off x="5897880" y="2172970"/>
            <a:ext cx="3123565" cy="1231265"/>
          </a:xfrm>
          <a:prstGeom prst="straightConnector1">
            <a:avLst/>
          </a:prstGeom>
          <a:ln>
            <a:solidFill>
              <a:schemeClr val="bg1"/>
            </a:solidFill>
            <a:headEnd type="oval" w="lg" len="lg"/>
            <a:tailEnd type="none" w="med" len="med"/>
          </a:ln>
          <a:effectLst>
            <a:glow rad="63500">
              <a:srgbClr val="202020">
                <a:alpha val="40000"/>
              </a:srgb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907405" y="3413760"/>
            <a:ext cx="3121660" cy="1302385"/>
          </a:xfrm>
          <a:prstGeom prst="straightConnector1">
            <a:avLst/>
          </a:prstGeom>
          <a:ln>
            <a:solidFill>
              <a:schemeClr val="bg1"/>
            </a:solidFill>
            <a:headEnd type="oval" w="lg" len="lg"/>
            <a:tailEnd type="none" w="med" len="med"/>
          </a:ln>
          <a:effectLst>
            <a:glow rad="63500">
              <a:srgbClr val="202020">
                <a:alpha val="40000"/>
              </a:srgb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907405" y="3395980"/>
            <a:ext cx="3314065" cy="1143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arrow" w="med" len="med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>
            <a:off x="8191500" y="1651000"/>
            <a:ext cx="1659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800" i="1">
                <a:solidFill>
                  <a:schemeClr val="tx1"/>
                </a:solidFill>
                <a:latin typeface="Symbol" panose="05050102010706020507" charset="0"/>
                <a:cs typeface="Symbol" panose="05050102010706020507" charset="0"/>
              </a:rPr>
              <a:t>f </a:t>
            </a:r>
            <a:r>
              <a:rPr lang="pt-PT" altLang="en-US" sz="2800">
                <a:solidFill>
                  <a:schemeClr val="tx1"/>
                </a:solidFill>
                <a:latin typeface="Symbol" panose="05050102010706020507" charset="0"/>
                <a:cs typeface="Symbol" panose="05050102010706020507" charset="0"/>
              </a:rPr>
              <a:t>= 22.5°</a:t>
            </a:r>
            <a:endParaRPr lang="pt-PT" altLang="en-US" sz="2800">
              <a:solidFill>
                <a:schemeClr val="tx1"/>
              </a:solidFill>
              <a:latin typeface="Symbol" panose="05050102010706020507" charset="0"/>
              <a:cs typeface="Symbol" panose="05050102010706020507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8070215" y="4630420"/>
            <a:ext cx="17811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800" i="1">
                <a:solidFill>
                  <a:schemeClr val="tx1"/>
                </a:solidFill>
                <a:latin typeface="Symbol" panose="05050102010706020507" charset="0"/>
                <a:cs typeface="Symbol" panose="05050102010706020507" charset="0"/>
              </a:rPr>
              <a:t>f </a:t>
            </a:r>
            <a:r>
              <a:rPr lang="pt-PT" altLang="en-US" sz="2800">
                <a:solidFill>
                  <a:schemeClr val="tx1"/>
                </a:solidFill>
                <a:latin typeface="Symbol" panose="05050102010706020507" charset="0"/>
                <a:cs typeface="Symbol" panose="05050102010706020507" charset="0"/>
              </a:rPr>
              <a:t>= -22.5°</a:t>
            </a:r>
            <a:endParaRPr lang="pt-PT" altLang="en-US" sz="2800">
              <a:solidFill>
                <a:schemeClr val="tx1"/>
              </a:solidFill>
              <a:latin typeface="Symbol" panose="05050102010706020507" charset="0"/>
              <a:cs typeface="Symbol" panose="05050102010706020507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HG01b"/>
          <p:cNvPicPr>
            <a:picLocks noChangeAspect="1"/>
          </p:cNvPicPr>
          <p:nvPr/>
        </p:nvPicPr>
        <p:blipFill>
          <a:blip r:embed="rId1"/>
          <a:srcRect l="7845" r="8096"/>
          <a:stretch>
            <a:fillRect/>
          </a:stretch>
        </p:blipFill>
        <p:spPr>
          <a:xfrm rot="20280000">
            <a:off x="3265805" y="678180"/>
            <a:ext cx="5313680" cy="548195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096885" y="3518535"/>
            <a:ext cx="5137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altLang="en-US" sz="2400" b="1" i="1">
                <a:solidFill>
                  <a:srgbClr val="FFC000"/>
                </a:solidFill>
              </a:rPr>
              <a:t>R</a:t>
            </a:r>
            <a:r>
              <a:rPr lang="pt-PT" altLang="en-US" sz="2400" b="1" baseline="-25000">
                <a:solidFill>
                  <a:srgbClr val="FFC000"/>
                </a:solidFill>
              </a:rPr>
              <a:t>1</a:t>
            </a:r>
            <a:endParaRPr lang="pt-PT" altLang="en-US" sz="2400" b="1" baseline="-25000">
              <a:solidFill>
                <a:srgbClr val="FFC000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256395" y="3140710"/>
            <a:ext cx="3778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altLang="en-US" sz="2800" i="1">
                <a:latin typeface="Symbol" panose="05050102010706020507" charset="0"/>
                <a:cs typeface="Symbol" panose="05050102010706020507" charset="0"/>
              </a:rPr>
              <a:t>r</a:t>
            </a:r>
            <a:endParaRPr lang="pt-PT" altLang="en-US" sz="2800" i="1">
              <a:latin typeface="Symbol" panose="05050102010706020507" charset="0"/>
              <a:cs typeface="Symbol" panose="05050102010706020507" charset="0"/>
            </a:endParaRPr>
          </a:p>
        </p:txBody>
      </p:sp>
      <p:sp>
        <p:nvSpPr>
          <p:cNvPr id="9" name="Arc 8"/>
          <p:cNvSpPr/>
          <p:nvPr/>
        </p:nvSpPr>
        <p:spPr>
          <a:xfrm rot="1200000">
            <a:off x="7747635" y="2955290"/>
            <a:ext cx="494030" cy="704215"/>
          </a:xfrm>
          <a:prstGeom prst="arc">
            <a:avLst>
              <a:gd name="adj1" fmla="val 17075939"/>
              <a:gd name="adj2" fmla="val 20983319"/>
            </a:avLst>
          </a:prstGeom>
          <a:ln w="25400">
            <a:solidFill>
              <a:schemeClr val="bg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8201025" y="2798445"/>
            <a:ext cx="363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800" i="1">
                <a:solidFill>
                  <a:schemeClr val="bg1"/>
                </a:solidFill>
                <a:latin typeface="Symbol" panose="05050102010706020507" charset="0"/>
                <a:cs typeface="Symbol" panose="05050102010706020507" charset="0"/>
              </a:rPr>
              <a:t>f</a:t>
            </a:r>
            <a:endParaRPr lang="pt-PT" altLang="en-US" sz="2800" i="1">
              <a:solidFill>
                <a:schemeClr val="bg1"/>
              </a:solidFill>
              <a:latin typeface="Symbol" panose="05050102010706020507" charset="0"/>
              <a:cs typeface="Symbol" panose="05050102010706020507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8096885" y="3095625"/>
            <a:ext cx="0" cy="666750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16" idx="2"/>
          </p:cNvCxnSpPr>
          <p:nvPr/>
        </p:nvCxnSpPr>
        <p:spPr>
          <a:xfrm flipV="1">
            <a:off x="5897880" y="2172970"/>
            <a:ext cx="3123565" cy="1231265"/>
          </a:xfrm>
          <a:prstGeom prst="straightConnector1">
            <a:avLst/>
          </a:prstGeom>
          <a:ln>
            <a:solidFill>
              <a:schemeClr val="bg1"/>
            </a:solidFill>
            <a:headEnd type="oval" w="lg" len="lg"/>
            <a:tailEnd type="none" w="med" len="med"/>
          </a:ln>
          <a:effectLst>
            <a:glow rad="63500">
              <a:srgbClr val="202020">
                <a:alpha val="40000"/>
              </a:srgb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907405" y="3413760"/>
            <a:ext cx="3121660" cy="1302385"/>
          </a:xfrm>
          <a:prstGeom prst="straightConnector1">
            <a:avLst/>
          </a:prstGeom>
          <a:ln>
            <a:solidFill>
              <a:schemeClr val="bg1"/>
            </a:solidFill>
            <a:headEnd type="oval" w="lg" len="lg"/>
            <a:tailEnd type="none" w="med" len="med"/>
          </a:ln>
          <a:effectLst>
            <a:glow rad="63500">
              <a:srgbClr val="202020">
                <a:alpha val="40000"/>
              </a:srgb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907405" y="3413760"/>
            <a:ext cx="3314065" cy="1143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arrow" w="med" len="med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>
            <a:off x="8191500" y="1651000"/>
            <a:ext cx="1659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800" i="1">
                <a:solidFill>
                  <a:schemeClr val="tx1"/>
                </a:solidFill>
                <a:latin typeface="Symbol" panose="05050102010706020507" charset="0"/>
                <a:cs typeface="Symbol" panose="05050102010706020507" charset="0"/>
              </a:rPr>
              <a:t>f </a:t>
            </a:r>
            <a:r>
              <a:rPr lang="pt-PT" altLang="en-US" sz="2800">
                <a:solidFill>
                  <a:schemeClr val="tx1"/>
                </a:solidFill>
                <a:latin typeface="Symbol" panose="05050102010706020507" charset="0"/>
                <a:cs typeface="Symbol" panose="05050102010706020507" charset="0"/>
              </a:rPr>
              <a:t>= 22.5°</a:t>
            </a:r>
            <a:endParaRPr lang="pt-PT" altLang="en-US" sz="2800">
              <a:solidFill>
                <a:schemeClr val="tx1"/>
              </a:solidFill>
              <a:latin typeface="Symbol" panose="05050102010706020507" charset="0"/>
              <a:cs typeface="Symbol" panose="05050102010706020507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8070215" y="4630420"/>
            <a:ext cx="17811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800" i="1">
                <a:solidFill>
                  <a:schemeClr val="tx1"/>
                </a:solidFill>
                <a:latin typeface="Symbol" panose="05050102010706020507" charset="0"/>
                <a:cs typeface="Symbol" panose="05050102010706020507" charset="0"/>
              </a:rPr>
              <a:t>f </a:t>
            </a:r>
            <a:r>
              <a:rPr lang="pt-PT" altLang="en-US" sz="2800">
                <a:solidFill>
                  <a:schemeClr val="tx1"/>
                </a:solidFill>
                <a:latin typeface="Symbol" panose="05050102010706020507" charset="0"/>
                <a:cs typeface="Symbol" panose="05050102010706020507" charset="0"/>
              </a:rPr>
              <a:t>= -22.5°</a:t>
            </a:r>
            <a:endParaRPr lang="pt-PT" altLang="en-US" sz="2800">
              <a:solidFill>
                <a:schemeClr val="tx1"/>
              </a:solidFill>
              <a:latin typeface="Symbol" panose="05050102010706020507" charset="0"/>
              <a:cs typeface="Symbol" panose="05050102010706020507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3065145" y="893445"/>
            <a:ext cx="0" cy="5531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1"/>
          <p:cNvSpPr txBox="1"/>
          <p:nvPr/>
        </p:nvSpPr>
        <p:spPr>
          <a:xfrm>
            <a:off x="1405255" y="577215"/>
            <a:ext cx="1659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OLD</a:t>
            </a:r>
            <a:endParaRPr lang="pt-PT" altLang="en-US" sz="28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480" y="492760"/>
            <a:ext cx="5626100" cy="6062345"/>
          </a:xfrm>
          <a:prstGeom prst="rect">
            <a:avLst/>
          </a:prstGeom>
        </p:spPr>
      </p:pic>
      <p:cxnSp>
        <p:nvCxnSpPr>
          <p:cNvPr id="62" name="Straight Connector 61"/>
          <p:cNvCxnSpPr/>
          <p:nvPr/>
        </p:nvCxnSpPr>
        <p:spPr>
          <a:xfrm flipV="1">
            <a:off x="805180" y="3509010"/>
            <a:ext cx="5854700" cy="3175"/>
          </a:xfrm>
          <a:prstGeom prst="line">
            <a:avLst/>
          </a:prstGeom>
          <a:ln w="15875" cmpd="sng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s 15"/>
          <p:cNvSpPr/>
          <p:nvPr/>
        </p:nvSpPr>
        <p:spPr>
          <a:xfrm>
            <a:off x="7906385" y="711835"/>
            <a:ext cx="2898140" cy="54749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58" name="Straight Connector 57"/>
          <p:cNvCxnSpPr/>
          <p:nvPr/>
        </p:nvCxnSpPr>
        <p:spPr>
          <a:xfrm flipV="1">
            <a:off x="9490075" y="608330"/>
            <a:ext cx="10795" cy="572770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950" y="547370"/>
            <a:ext cx="993775" cy="5639435"/>
          </a:xfrm>
          <a:prstGeom prst="rect">
            <a:avLst/>
          </a:prstGeom>
        </p:spPr>
      </p:pic>
      <p:cxnSp>
        <p:nvCxnSpPr>
          <p:cNvPr id="57" name="Straight Connector 56"/>
          <p:cNvCxnSpPr/>
          <p:nvPr/>
        </p:nvCxnSpPr>
        <p:spPr>
          <a:xfrm>
            <a:off x="7499985" y="3561715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740785" y="6001385"/>
            <a:ext cx="213995" cy="203835"/>
          </a:xfrm>
          <a:prstGeom prst="ellipse">
            <a:avLst/>
          </a:prstGeom>
          <a:solidFill>
            <a:srgbClr val="FFFF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725670" y="3408680"/>
            <a:ext cx="213995" cy="20383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76220" y="3408680"/>
            <a:ext cx="213995" cy="203835"/>
          </a:xfrm>
          <a:prstGeom prst="ellipse">
            <a:avLst/>
          </a:prstGeom>
          <a:solidFill>
            <a:srgbClr val="FFC0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730625" y="4000500"/>
            <a:ext cx="213995" cy="203835"/>
          </a:xfrm>
          <a:prstGeom prst="ellipse">
            <a:avLst/>
          </a:prstGeom>
          <a:solidFill>
            <a:schemeClr val="tx2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750945" y="950595"/>
            <a:ext cx="213995" cy="20383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750945" y="3422015"/>
            <a:ext cx="213995" cy="203835"/>
          </a:xfrm>
          <a:prstGeom prst="ellipse">
            <a:avLst/>
          </a:prstGeom>
          <a:solidFill>
            <a:srgbClr val="5D6612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735320" y="3408680"/>
            <a:ext cx="213995" cy="203835"/>
          </a:xfrm>
          <a:prstGeom prst="ellipse">
            <a:avLst/>
          </a:prstGeom>
          <a:solidFill>
            <a:srgbClr val="92D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705610" y="3408680"/>
            <a:ext cx="213995" cy="203835"/>
          </a:xfrm>
          <a:prstGeom prst="ellipse">
            <a:avLst/>
          </a:prstGeom>
          <a:solidFill>
            <a:schemeClr val="accent2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740785" y="4558665"/>
            <a:ext cx="213995" cy="203835"/>
          </a:xfrm>
          <a:prstGeom prst="ellipse">
            <a:avLst/>
          </a:prstGeom>
          <a:solidFill>
            <a:srgbClr val="C7E1B2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r="16640"/>
          <a:stretch>
            <a:fillRect/>
          </a:stretch>
        </p:blipFill>
        <p:spPr>
          <a:xfrm>
            <a:off x="7194550" y="6248400"/>
            <a:ext cx="3995420" cy="45720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740785" y="2934970"/>
            <a:ext cx="213995" cy="203835"/>
          </a:xfrm>
          <a:prstGeom prst="ellipse">
            <a:avLst/>
          </a:prstGeom>
          <a:solidFill>
            <a:srgbClr val="00206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750945" y="950595"/>
            <a:ext cx="213995" cy="20383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754755" y="2360930"/>
            <a:ext cx="213995" cy="203835"/>
          </a:xfrm>
          <a:prstGeom prst="ellipse">
            <a:avLst/>
          </a:prstGeom>
          <a:solidFill>
            <a:srgbClr val="00B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0301605" y="638810"/>
            <a:ext cx="213995" cy="20383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0590530" y="6044565"/>
            <a:ext cx="213995" cy="203835"/>
          </a:xfrm>
          <a:prstGeom prst="ellipse">
            <a:avLst/>
          </a:prstGeom>
          <a:solidFill>
            <a:srgbClr val="FFFF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Text Box 33"/>
          <p:cNvSpPr txBox="1"/>
          <p:nvPr/>
        </p:nvSpPr>
        <p:spPr>
          <a:xfrm>
            <a:off x="8409305" y="251460"/>
            <a:ext cx="1892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/>
              <a:t>Radiator R1</a:t>
            </a:r>
            <a:endParaRPr lang="pt-PT" altLang="en-US" sz="2000"/>
          </a:p>
        </p:txBody>
      </p:sp>
      <p:sp>
        <p:nvSpPr>
          <p:cNvPr id="39" name="Text Box 38"/>
          <p:cNvSpPr txBox="1"/>
          <p:nvPr/>
        </p:nvSpPr>
        <p:spPr>
          <a:xfrm>
            <a:off x="6789420" y="3408680"/>
            <a:ext cx="690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ym typeface="+mn-ea"/>
              </a:rPr>
              <a:t>1882</a:t>
            </a:r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9937750" y="3453130"/>
            <a:ext cx="213995" cy="20383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8864600" y="3453130"/>
            <a:ext cx="213995" cy="203835"/>
          </a:xfrm>
          <a:prstGeom prst="ellipse">
            <a:avLst/>
          </a:prstGeom>
          <a:solidFill>
            <a:srgbClr val="FFC0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10508615" y="3453130"/>
            <a:ext cx="213995" cy="203835"/>
          </a:xfrm>
          <a:prstGeom prst="ellipse">
            <a:avLst/>
          </a:prstGeom>
          <a:solidFill>
            <a:srgbClr val="92D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253095" y="3453130"/>
            <a:ext cx="213995" cy="203835"/>
          </a:xfrm>
          <a:prstGeom prst="ellipse">
            <a:avLst/>
          </a:prstGeom>
          <a:solidFill>
            <a:schemeClr val="accent2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9382125" y="2924175"/>
            <a:ext cx="213995" cy="203835"/>
          </a:xfrm>
          <a:prstGeom prst="ellipse">
            <a:avLst/>
          </a:prstGeom>
          <a:solidFill>
            <a:srgbClr val="00206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9382125" y="2249170"/>
            <a:ext cx="213995" cy="203835"/>
          </a:xfrm>
          <a:prstGeom prst="ellipse">
            <a:avLst/>
          </a:prstGeom>
          <a:solidFill>
            <a:srgbClr val="00B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9382125" y="4073525"/>
            <a:ext cx="213995" cy="203835"/>
          </a:xfrm>
          <a:prstGeom prst="ellipse">
            <a:avLst/>
          </a:prstGeom>
          <a:solidFill>
            <a:schemeClr val="tx2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9382125" y="4673600"/>
            <a:ext cx="213995" cy="203835"/>
          </a:xfrm>
          <a:prstGeom prst="ellipse">
            <a:avLst/>
          </a:prstGeom>
          <a:solidFill>
            <a:srgbClr val="C7E1B2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9380855" y="3453130"/>
            <a:ext cx="213995" cy="203835"/>
          </a:xfrm>
          <a:prstGeom prst="ellipse">
            <a:avLst/>
          </a:prstGeom>
          <a:solidFill>
            <a:srgbClr val="5D6612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Text Box 55"/>
          <p:cNvSpPr txBox="1"/>
          <p:nvPr/>
        </p:nvSpPr>
        <p:spPr>
          <a:xfrm>
            <a:off x="9382125" y="6207760"/>
            <a:ext cx="6451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PT" altLang="en-US">
                <a:sym typeface="+mn-ea"/>
              </a:rPr>
              <a:t>167 </a:t>
            </a:r>
            <a:endParaRPr lang="en-US"/>
          </a:p>
        </p:txBody>
      </p:sp>
      <p:sp>
        <p:nvSpPr>
          <p:cNvPr id="60" name="Text Box 59"/>
          <p:cNvSpPr txBox="1"/>
          <p:nvPr/>
        </p:nvSpPr>
        <p:spPr>
          <a:xfrm>
            <a:off x="1871980" y="80645"/>
            <a:ext cx="41071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/>
              <a:t>Sources in stator at </a:t>
            </a:r>
            <a:r>
              <a:rPr lang="pt-PT" altLang="en-US" sz="2000" i="1"/>
              <a:t>r</a:t>
            </a:r>
            <a:r>
              <a:rPr lang="pt-PT" altLang="en-US" sz="2000"/>
              <a:t> = 3956 mm </a:t>
            </a:r>
            <a:endParaRPr lang="pt-PT" altLang="en-US" sz="2000"/>
          </a:p>
        </p:txBody>
      </p:sp>
      <p:sp>
        <p:nvSpPr>
          <p:cNvPr id="61" name="Text Box 60"/>
          <p:cNvSpPr txBox="1"/>
          <p:nvPr/>
        </p:nvSpPr>
        <p:spPr>
          <a:xfrm>
            <a:off x="20955" y="3258185"/>
            <a:ext cx="953770" cy="39878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73000"/>
                  </a:schemeClr>
                </a:solidFill>
              </a14:hiddenFill>
            </a:ext>
          </a:extLst>
        </p:spPr>
        <p:txBody>
          <a:bodyPr wrap="square" rtlCol="0" anchor="t">
            <a:spAutoFit/>
          </a:bodyPr>
          <a:p>
            <a:r>
              <a:rPr lang="en-US" sz="2000">
                <a:ln>
                  <a:noFill/>
                </a:ln>
                <a:solidFill>
                  <a:schemeClr val="tx1"/>
                </a:solidFill>
              </a:rPr>
              <a:t>1864</a:t>
            </a:r>
            <a:endParaRPr lang="en-US" sz="2000">
              <a:ln>
                <a:noFill/>
              </a:ln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3837305" y="3650615"/>
            <a:ext cx="4445" cy="32512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855720" y="3128010"/>
            <a:ext cx="4445" cy="32512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23"/>
          <p:cNvSpPr txBox="1"/>
          <p:nvPr/>
        </p:nvSpPr>
        <p:spPr>
          <a:xfrm>
            <a:off x="3446145" y="2981325"/>
            <a:ext cx="284480" cy="274320"/>
          </a:xfrm>
          <a:prstGeom prst="rect">
            <a:avLst/>
          </a:prstGeom>
          <a:solidFill>
            <a:schemeClr val="bg1">
              <a:alpha val="62000"/>
            </a:schemeClr>
          </a:solidFill>
          <a:effectLst/>
        </p:spPr>
        <p:txBody>
          <a:bodyPr wrap="square" rtlCol="0" anchor="ctr" anchorCtr="0">
            <a:spAutoFit/>
          </a:bodyPr>
          <a:p>
            <a:r>
              <a:rPr lang="pt-PT" altLang="en-US" sz="2000">
                <a:ln>
                  <a:noFill/>
                </a:ln>
                <a:solidFill>
                  <a:srgbClr val="FF0000"/>
                </a:solidFill>
              </a:rPr>
              <a:t>a</a:t>
            </a:r>
            <a:endParaRPr lang="pt-PT" altLang="en-US" sz="2000">
              <a:ln>
                <a:noFill/>
              </a:ln>
              <a:solidFill>
                <a:srgbClr val="FF0000"/>
              </a:solidFill>
            </a:endParaRPr>
          </a:p>
        </p:txBody>
      </p:sp>
      <p:cxnSp>
        <p:nvCxnSpPr>
          <p:cNvPr id="28" name="Straight Arrow Connector 27"/>
          <p:cNvCxnSpPr>
            <a:endCxn id="5" idx="2"/>
          </p:cNvCxnSpPr>
          <p:nvPr/>
        </p:nvCxnSpPr>
        <p:spPr>
          <a:xfrm>
            <a:off x="3944620" y="3503930"/>
            <a:ext cx="781050" cy="6985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851275" y="4214495"/>
            <a:ext cx="4445" cy="32512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850005" y="2569210"/>
            <a:ext cx="4445" cy="32512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4939665" y="3496945"/>
            <a:ext cx="781050" cy="6985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2949575" y="3489960"/>
            <a:ext cx="781050" cy="6985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1919605" y="3510915"/>
            <a:ext cx="781050" cy="6985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Box 48"/>
          <p:cNvSpPr txBox="1"/>
          <p:nvPr/>
        </p:nvSpPr>
        <p:spPr>
          <a:xfrm>
            <a:off x="1113155" y="842645"/>
            <a:ext cx="1741170" cy="1014730"/>
          </a:xfrm>
          <a:prstGeom prst="rect">
            <a:avLst/>
          </a:prstGeom>
          <a:solidFill>
            <a:schemeClr val="bg1">
              <a:alpha val="82000"/>
            </a:schemeClr>
          </a:solidFill>
          <a:effectLst/>
        </p:spPr>
        <p:txBody>
          <a:bodyPr wrap="square" rtlCol="0" anchor="t">
            <a:spAutoFit/>
          </a:bodyPr>
          <a:p>
            <a:r>
              <a:rPr lang="pt-PT" altLang="en-US" sz="2000">
                <a:ln>
                  <a:noFill/>
                </a:ln>
                <a:solidFill>
                  <a:srgbClr val="FF0000"/>
                </a:solidFill>
              </a:rPr>
              <a:t>a = 249 mm</a:t>
            </a:r>
            <a:endParaRPr lang="pt-PT" altLang="en-US" sz="2000">
              <a:ln>
                <a:noFill/>
              </a:ln>
              <a:solidFill>
                <a:srgbClr val="FF0000"/>
              </a:solidFill>
            </a:endParaRPr>
          </a:p>
          <a:p>
            <a:r>
              <a:rPr lang="pt-PT" altLang="en-US" sz="2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rPr>
              <a:t>b = 528 mm</a:t>
            </a:r>
            <a:endParaRPr lang="pt-PT" altLang="en-US" sz="2000">
              <a:ln>
                <a:noFill/>
              </a:ln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altLang="en-US" sz="2000">
                <a:ln>
                  <a:noFill/>
                </a:ln>
                <a:solidFill>
                  <a:srgbClr val="FF0000"/>
                </a:solidFill>
                <a:sym typeface="+mn-ea"/>
              </a:rPr>
              <a:t>c = 1365 mm</a:t>
            </a:r>
            <a:endParaRPr lang="pt-PT" altLang="en-US" sz="2000">
              <a:ln>
                <a:noFill/>
              </a:ln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833495" y="1154430"/>
            <a:ext cx="3810" cy="120650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3837940" y="4762500"/>
            <a:ext cx="3810" cy="120650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 Box 51"/>
          <p:cNvSpPr txBox="1"/>
          <p:nvPr/>
        </p:nvSpPr>
        <p:spPr>
          <a:xfrm>
            <a:off x="3197860" y="3561715"/>
            <a:ext cx="284480" cy="274320"/>
          </a:xfrm>
          <a:prstGeom prst="rect">
            <a:avLst/>
          </a:prstGeom>
          <a:solidFill>
            <a:schemeClr val="bg1">
              <a:alpha val="62000"/>
            </a:schemeClr>
          </a:solidFill>
          <a:effectLst/>
        </p:spPr>
        <p:txBody>
          <a:bodyPr wrap="square" rtlCol="0" anchor="ctr" anchorCtr="0">
            <a:spAutoFit/>
          </a:bodyPr>
          <a:p>
            <a:r>
              <a:rPr lang="pt-PT" altLang="en-US" sz="2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cs typeface="+mn-lt"/>
              </a:rPr>
              <a:t>b</a:t>
            </a:r>
            <a:endParaRPr lang="pt-PT" altLang="en-US" sz="2000">
              <a:ln>
                <a:noFill/>
              </a:ln>
              <a:solidFill>
                <a:schemeClr val="accent1">
                  <a:lumMod val="75000"/>
                </a:schemeClr>
              </a:solidFill>
              <a:cs typeface="+mn-lt"/>
            </a:endParaRPr>
          </a:p>
        </p:txBody>
      </p:sp>
      <p:sp>
        <p:nvSpPr>
          <p:cNvPr id="53" name="Text Box 52"/>
          <p:cNvSpPr txBox="1"/>
          <p:nvPr/>
        </p:nvSpPr>
        <p:spPr>
          <a:xfrm>
            <a:off x="4192905" y="3153410"/>
            <a:ext cx="284480" cy="274320"/>
          </a:xfrm>
          <a:prstGeom prst="rect">
            <a:avLst/>
          </a:prstGeom>
          <a:solidFill>
            <a:schemeClr val="bg1">
              <a:alpha val="62000"/>
            </a:schemeClr>
          </a:solidFill>
          <a:effectLst/>
        </p:spPr>
        <p:txBody>
          <a:bodyPr wrap="square" rtlCol="0" anchor="ctr" anchorCtr="0">
            <a:spAutoFit/>
          </a:bodyPr>
          <a:p>
            <a:r>
              <a:rPr lang="pt-PT" altLang="en-US" sz="2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cs typeface="+mn-lt"/>
              </a:rPr>
              <a:t>b</a:t>
            </a:r>
            <a:endParaRPr lang="pt-PT" altLang="en-US" sz="2000">
              <a:ln>
                <a:noFill/>
              </a:ln>
              <a:solidFill>
                <a:schemeClr val="accent1">
                  <a:lumMod val="75000"/>
                </a:schemeClr>
              </a:solidFill>
              <a:cs typeface="+mn-lt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3446145" y="2564765"/>
            <a:ext cx="284480" cy="274320"/>
          </a:xfrm>
          <a:prstGeom prst="rect">
            <a:avLst/>
          </a:prstGeom>
          <a:solidFill>
            <a:schemeClr val="bg1">
              <a:alpha val="62000"/>
            </a:schemeClr>
          </a:solidFill>
          <a:effectLst/>
        </p:spPr>
        <p:txBody>
          <a:bodyPr wrap="square" rtlCol="0" anchor="ctr" anchorCtr="0">
            <a:spAutoFit/>
          </a:bodyPr>
          <a:p>
            <a:r>
              <a:rPr lang="pt-PT" altLang="en-US" sz="2000">
                <a:ln>
                  <a:noFill/>
                </a:ln>
                <a:solidFill>
                  <a:srgbClr val="FF0000"/>
                </a:solidFill>
              </a:rPr>
              <a:t>a</a:t>
            </a:r>
            <a:endParaRPr lang="pt-PT" altLang="en-US" sz="2000">
              <a:ln>
                <a:noFill/>
              </a:ln>
              <a:solidFill>
                <a:srgbClr val="FF0000"/>
              </a:solidFill>
            </a:endParaRPr>
          </a:p>
        </p:txBody>
      </p:sp>
      <p:sp>
        <p:nvSpPr>
          <p:cNvPr id="55" name="Text Box 54"/>
          <p:cNvSpPr txBox="1"/>
          <p:nvPr/>
        </p:nvSpPr>
        <p:spPr>
          <a:xfrm>
            <a:off x="4003040" y="4239895"/>
            <a:ext cx="284480" cy="274320"/>
          </a:xfrm>
          <a:prstGeom prst="rect">
            <a:avLst/>
          </a:prstGeom>
          <a:solidFill>
            <a:schemeClr val="bg1">
              <a:alpha val="62000"/>
            </a:schemeClr>
          </a:solidFill>
          <a:effectLst/>
        </p:spPr>
        <p:txBody>
          <a:bodyPr wrap="square" rtlCol="0" anchor="ctr" anchorCtr="0">
            <a:spAutoFit/>
          </a:bodyPr>
          <a:p>
            <a:r>
              <a:rPr lang="pt-PT" altLang="en-US" sz="2000">
                <a:ln>
                  <a:noFill/>
                </a:ln>
                <a:solidFill>
                  <a:srgbClr val="FF0000"/>
                </a:solidFill>
              </a:rPr>
              <a:t>a</a:t>
            </a:r>
            <a:endParaRPr lang="pt-PT" altLang="en-US" sz="2000">
              <a:ln>
                <a:noFill/>
              </a:ln>
              <a:solidFill>
                <a:srgbClr val="FF0000"/>
              </a:solidFill>
            </a:endParaRPr>
          </a:p>
        </p:txBody>
      </p:sp>
      <p:sp>
        <p:nvSpPr>
          <p:cNvPr id="59" name="Text Box 58"/>
          <p:cNvSpPr txBox="1"/>
          <p:nvPr/>
        </p:nvSpPr>
        <p:spPr>
          <a:xfrm>
            <a:off x="4003040" y="3701415"/>
            <a:ext cx="284480" cy="274320"/>
          </a:xfrm>
          <a:prstGeom prst="rect">
            <a:avLst/>
          </a:prstGeom>
          <a:solidFill>
            <a:schemeClr val="bg1">
              <a:alpha val="62000"/>
            </a:schemeClr>
          </a:solidFill>
          <a:effectLst/>
        </p:spPr>
        <p:txBody>
          <a:bodyPr wrap="square" rtlCol="0" anchor="ctr" anchorCtr="0">
            <a:spAutoFit/>
          </a:bodyPr>
          <a:p>
            <a:r>
              <a:rPr lang="pt-PT" altLang="en-US" sz="2000">
                <a:ln>
                  <a:noFill/>
                </a:ln>
                <a:solidFill>
                  <a:srgbClr val="FF0000"/>
                </a:solidFill>
              </a:rPr>
              <a:t>a</a:t>
            </a:r>
            <a:endParaRPr lang="pt-PT" altLang="en-US" sz="2000">
              <a:ln>
                <a:noFill/>
              </a:ln>
              <a:solidFill>
                <a:srgbClr val="FF0000"/>
              </a:solidFill>
            </a:endParaRPr>
          </a:p>
        </p:txBody>
      </p:sp>
      <p:sp>
        <p:nvSpPr>
          <p:cNvPr id="63" name="Text Box 62"/>
          <p:cNvSpPr txBox="1"/>
          <p:nvPr/>
        </p:nvSpPr>
        <p:spPr>
          <a:xfrm>
            <a:off x="3944620" y="5228590"/>
            <a:ext cx="284480" cy="274320"/>
          </a:xfrm>
          <a:prstGeom prst="rect">
            <a:avLst/>
          </a:prstGeom>
          <a:solidFill>
            <a:schemeClr val="bg1">
              <a:alpha val="62000"/>
            </a:schemeClr>
          </a:solidFill>
          <a:effectLst/>
        </p:spPr>
        <p:txBody>
          <a:bodyPr wrap="square" rtlCol="0" anchor="ctr" anchorCtr="0">
            <a:spAutoFit/>
          </a:bodyPr>
          <a:p>
            <a:r>
              <a:rPr lang="pt-PT" altLang="en-US" sz="2000">
                <a:ln>
                  <a:noFill/>
                </a:ln>
                <a:solidFill>
                  <a:srgbClr val="FF0000"/>
                </a:solidFill>
              </a:rPr>
              <a:t>c</a:t>
            </a:r>
            <a:endParaRPr lang="pt-PT" altLang="en-US" sz="2000">
              <a:ln>
                <a:noFill/>
              </a:ln>
              <a:solidFill>
                <a:srgbClr val="FF0000"/>
              </a:solidFill>
            </a:endParaRPr>
          </a:p>
        </p:txBody>
      </p:sp>
      <p:sp>
        <p:nvSpPr>
          <p:cNvPr id="64" name="Text Box 63"/>
          <p:cNvSpPr txBox="1"/>
          <p:nvPr/>
        </p:nvSpPr>
        <p:spPr>
          <a:xfrm>
            <a:off x="3446145" y="1620520"/>
            <a:ext cx="284480" cy="274320"/>
          </a:xfrm>
          <a:prstGeom prst="rect">
            <a:avLst/>
          </a:prstGeom>
          <a:solidFill>
            <a:schemeClr val="bg1">
              <a:alpha val="62000"/>
            </a:schemeClr>
          </a:solidFill>
          <a:effectLst/>
        </p:spPr>
        <p:txBody>
          <a:bodyPr wrap="square" rtlCol="0" anchor="ctr" anchorCtr="0">
            <a:spAutoFit/>
          </a:bodyPr>
          <a:p>
            <a:r>
              <a:rPr lang="pt-PT" altLang="en-US" sz="2000">
                <a:ln>
                  <a:noFill/>
                </a:ln>
                <a:solidFill>
                  <a:srgbClr val="FF0000"/>
                </a:solidFill>
              </a:rPr>
              <a:t>c</a:t>
            </a:r>
            <a:endParaRPr lang="pt-PT" altLang="en-US" sz="2000">
              <a:ln>
                <a:noFill/>
              </a:ln>
              <a:solidFill>
                <a:srgbClr val="FF0000"/>
              </a:solidFill>
            </a:endParaRPr>
          </a:p>
        </p:txBody>
      </p:sp>
      <p:sp>
        <p:nvSpPr>
          <p:cNvPr id="66" name="Text Box 65"/>
          <p:cNvSpPr txBox="1"/>
          <p:nvPr/>
        </p:nvSpPr>
        <p:spPr>
          <a:xfrm>
            <a:off x="8015605" y="790575"/>
            <a:ext cx="1365250" cy="583565"/>
          </a:xfrm>
          <a:prstGeom prst="rect">
            <a:avLst/>
          </a:prstGeom>
          <a:solidFill>
            <a:schemeClr val="bg1">
              <a:alpha val="82000"/>
            </a:schemeClr>
          </a:solidFill>
          <a:effectLst/>
        </p:spPr>
        <p:txBody>
          <a:bodyPr wrap="square" rtlCol="0" anchor="t">
            <a:spAutoFit/>
          </a:bodyPr>
          <a:p>
            <a:r>
              <a:rPr lang="pt-PT" altLang="en-US" sz="1600">
                <a:ln>
                  <a:noFill/>
                </a:ln>
                <a:solidFill>
                  <a:srgbClr val="FF0000"/>
                </a:solidFill>
              </a:rPr>
              <a:t>a = 382 mm</a:t>
            </a:r>
            <a:endParaRPr lang="pt-PT" altLang="en-US" sz="1600">
              <a:ln>
                <a:noFill/>
              </a:ln>
              <a:solidFill>
                <a:srgbClr val="FF0000"/>
              </a:solidFill>
            </a:endParaRPr>
          </a:p>
          <a:p>
            <a:r>
              <a:rPr lang="pt-PT" altLang="en-US" sz="16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rPr>
              <a:t>b = 400 mm</a:t>
            </a:r>
            <a:endParaRPr lang="pt-PT" altLang="en-US" sz="1600">
              <a:ln>
                <a:noFill/>
              </a:ln>
              <a:solidFill>
                <a:srgbClr val="FF0000"/>
              </a:solidFill>
              <a:sym typeface="+mn-ea"/>
            </a:endParaRPr>
          </a:p>
        </p:txBody>
      </p:sp>
      <p:sp>
        <p:nvSpPr>
          <p:cNvPr id="67" name="Text Box 66"/>
          <p:cNvSpPr txBox="1"/>
          <p:nvPr/>
        </p:nvSpPr>
        <p:spPr>
          <a:xfrm>
            <a:off x="9645650" y="2981325"/>
            <a:ext cx="284480" cy="274320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p>
            <a:r>
              <a:rPr lang="pt-PT" altLang="en-US" sz="2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cs typeface="+mn-lt"/>
              </a:rPr>
              <a:t>b</a:t>
            </a:r>
            <a:endParaRPr lang="pt-PT" altLang="en-US" sz="2000">
              <a:ln>
                <a:noFill/>
              </a:ln>
              <a:solidFill>
                <a:schemeClr val="accent1">
                  <a:lumMod val="75000"/>
                </a:schemeClr>
              </a:solidFill>
              <a:cs typeface="+mn-lt"/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9509760" y="3367405"/>
            <a:ext cx="556895" cy="0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8952865" y="3768725"/>
            <a:ext cx="556895" cy="0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 Box 70"/>
          <p:cNvSpPr txBox="1"/>
          <p:nvPr/>
        </p:nvSpPr>
        <p:spPr>
          <a:xfrm>
            <a:off x="9069070" y="3776980"/>
            <a:ext cx="284480" cy="274320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p>
            <a:r>
              <a:rPr lang="pt-PT" altLang="en-US" sz="2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cs typeface="+mn-lt"/>
              </a:rPr>
              <a:t>b</a:t>
            </a:r>
            <a:endParaRPr lang="pt-PT" altLang="en-US" sz="2000">
              <a:ln>
                <a:noFill/>
              </a:ln>
              <a:solidFill>
                <a:schemeClr val="accent1">
                  <a:lumMod val="75000"/>
                </a:schemeClr>
              </a:solidFill>
              <a:cs typeface="+mn-lt"/>
            </a:endParaRPr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9676765" y="3561080"/>
            <a:ext cx="10795" cy="59309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 Box 72"/>
          <p:cNvSpPr txBox="1"/>
          <p:nvPr/>
        </p:nvSpPr>
        <p:spPr>
          <a:xfrm>
            <a:off x="9712325" y="3728085"/>
            <a:ext cx="284480" cy="27432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62000"/>
                  </a:schemeClr>
                </a:solidFill>
              </a14:hiddenFill>
            </a:ext>
          </a:extLst>
        </p:spPr>
        <p:txBody>
          <a:bodyPr wrap="square" rtlCol="0" anchor="ctr" anchorCtr="0">
            <a:spAutoFit/>
          </a:bodyPr>
          <a:p>
            <a:r>
              <a:rPr lang="pt-PT" altLang="en-US" sz="2000">
                <a:ln>
                  <a:noFill/>
                </a:ln>
                <a:solidFill>
                  <a:srgbClr val="FF0000"/>
                </a:solidFill>
              </a:rPr>
              <a:t>a</a:t>
            </a:r>
            <a:endParaRPr lang="pt-PT" altLang="en-US" sz="2000">
              <a:ln>
                <a:noFill/>
              </a:ln>
              <a:solidFill>
                <a:srgbClr val="FF0000"/>
              </a:solidFill>
            </a:endParaRPr>
          </a:p>
        </p:txBody>
      </p:sp>
      <p:cxnSp>
        <p:nvCxnSpPr>
          <p:cNvPr id="74" name="Straight Arrow Connector 73"/>
          <p:cNvCxnSpPr/>
          <p:nvPr/>
        </p:nvCxnSpPr>
        <p:spPr>
          <a:xfrm flipH="1">
            <a:off x="9276715" y="2994025"/>
            <a:ext cx="10795" cy="59309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Box 74"/>
          <p:cNvSpPr txBox="1"/>
          <p:nvPr/>
        </p:nvSpPr>
        <p:spPr>
          <a:xfrm>
            <a:off x="8952865" y="3087370"/>
            <a:ext cx="284480" cy="27432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62000"/>
                  </a:schemeClr>
                </a:solidFill>
              </a14:hiddenFill>
            </a:ext>
          </a:extLst>
        </p:spPr>
        <p:txBody>
          <a:bodyPr wrap="square" rtlCol="0" anchor="ctr" anchorCtr="0">
            <a:spAutoFit/>
          </a:bodyPr>
          <a:p>
            <a:r>
              <a:rPr lang="pt-PT" altLang="en-US" sz="2000">
                <a:ln>
                  <a:noFill/>
                </a:ln>
                <a:solidFill>
                  <a:srgbClr val="FF0000"/>
                </a:solidFill>
              </a:rPr>
              <a:t>a</a:t>
            </a:r>
            <a:endParaRPr lang="pt-PT" altLang="en-US" sz="2000">
              <a:ln>
                <a:noFill/>
              </a:ln>
              <a:solidFill>
                <a:srgbClr val="FF0000"/>
              </a:solidFill>
            </a:endParaRPr>
          </a:p>
        </p:txBody>
      </p:sp>
      <p:sp>
        <p:nvSpPr>
          <p:cNvPr id="77" name="Text Box 76"/>
          <p:cNvSpPr txBox="1"/>
          <p:nvPr/>
        </p:nvSpPr>
        <p:spPr>
          <a:xfrm>
            <a:off x="6823710" y="5999480"/>
            <a:ext cx="81978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 sz="2000">
                <a:sym typeface="+mn-ea"/>
              </a:rPr>
              <a:t> </a:t>
            </a:r>
            <a:r>
              <a:rPr lang="pt-PT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−</a:t>
            </a:r>
            <a:r>
              <a:rPr lang="pt-PT" altLang="en-US" sz="2000">
                <a:sym typeface="+mn-ea"/>
              </a:rPr>
              <a:t>200</a:t>
            </a:r>
            <a:endParaRPr lang="pt-PT" altLang="en-US" sz="2000">
              <a:sym typeface="+mn-ea"/>
            </a:endParaRPr>
          </a:p>
        </p:txBody>
      </p:sp>
      <p:sp>
        <p:nvSpPr>
          <p:cNvPr id="78" name="Text Box 77"/>
          <p:cNvSpPr txBox="1"/>
          <p:nvPr/>
        </p:nvSpPr>
        <p:spPr>
          <a:xfrm>
            <a:off x="7159625" y="240030"/>
            <a:ext cx="74676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 sz="2000">
                <a:sym typeface="+mn-ea"/>
              </a:rPr>
              <a:t> mm </a:t>
            </a:r>
            <a:endParaRPr lang="pt-PT" altLang="en-US" sz="2000">
              <a:sym typeface="+mn-ea"/>
            </a:endParaRPr>
          </a:p>
        </p:txBody>
      </p:sp>
      <p:sp>
        <p:nvSpPr>
          <p:cNvPr id="79" name="Text Box 78"/>
          <p:cNvSpPr txBox="1"/>
          <p:nvPr/>
        </p:nvSpPr>
        <p:spPr>
          <a:xfrm>
            <a:off x="10824210" y="6052185"/>
            <a:ext cx="74676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 sz="2000">
                <a:sym typeface="+mn-ea"/>
              </a:rPr>
              <a:t> mm </a:t>
            </a:r>
            <a:endParaRPr lang="pt-PT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639445" y="232410"/>
            <a:ext cx="22205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Novas simulações: Simulação 01: S11</a:t>
            </a:r>
            <a:endParaRPr lang="pt-PT" altLang="en-US" sz="20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611245" y="104140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S11</a:t>
            </a:r>
            <a:endParaRPr lang="pt-PT" altLang="en-US">
              <a:solidFill>
                <a:srgbClr val="C00000"/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3954145" y="1492885"/>
            <a:ext cx="2166620" cy="508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4044950" y="985520"/>
            <a:ext cx="18783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-18.75°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endParaRPr lang="pt-PT" altLang="en-US" i="1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-1293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571115" y="149796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 mm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2463165" y="324485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2395855" y="224853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2395855" y="417512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860550" y="1496695"/>
            <a:ext cx="5715" cy="41344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639445" y="3379470"/>
            <a:ext cx="10528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3580 mm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52145"/>
          </a:xfrm>
        </p:spPr>
        <p:txBody>
          <a:bodyPr/>
          <a:p>
            <a:r>
              <a:rPr lang="pt-PT" altLang="en-US"/>
              <a:t>Simulação 1: Fonte S11</a:t>
            </a:r>
            <a:endParaRPr lang="pt-PT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505" y="728345"/>
            <a:ext cx="3844925" cy="32334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343015" y="258445"/>
            <a:ext cx="3552825" cy="6038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05" y="3961765"/>
            <a:ext cx="4530725" cy="2700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639445" y="232410"/>
            <a:ext cx="18230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40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2: S12</a:t>
            </a:r>
            <a:endParaRPr lang="pt-PT" altLang="en-US" sz="24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4365625" y="1125855"/>
            <a:ext cx="683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85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S12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85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4883785" y="1494155"/>
            <a:ext cx="1236980" cy="381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4627245" y="1041400"/>
            <a:ext cx="18783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-11.25°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endParaRPr lang="pt-PT" altLang="en-US" i="1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-775.78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571115" y="149796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 mm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2463165" y="324485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2395855" y="224853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2395855" y="417512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860550" y="1496695"/>
            <a:ext cx="5715" cy="41344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639445" y="3379470"/>
            <a:ext cx="10528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3580 mm</a:t>
            </a:r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4779645" y="1457325"/>
            <a:ext cx="81915" cy="81915"/>
          </a:xfrm>
          <a:prstGeom prst="ellipse">
            <a:avLst/>
          </a:prstGeom>
          <a:solidFill>
            <a:srgbClr val="CC0000"/>
          </a:solidFill>
          <a:effectLst>
            <a:glow rad="228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52145"/>
          </a:xfrm>
        </p:spPr>
        <p:txBody>
          <a:bodyPr/>
          <a:p>
            <a:r>
              <a:rPr lang="pt-PT" altLang="en-US"/>
              <a:t>Simulação 2: Fonte S12</a:t>
            </a:r>
            <a:endParaRPr lang="pt-PT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180" y="910590"/>
            <a:ext cx="3395345" cy="34969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t="22918"/>
          <a:stretch>
            <a:fillRect/>
          </a:stretch>
        </p:blipFill>
        <p:spPr>
          <a:xfrm>
            <a:off x="805180" y="4800600"/>
            <a:ext cx="2853690" cy="16808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958330" y="641350"/>
            <a:ext cx="3327400" cy="557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639445" y="232410"/>
            <a:ext cx="18230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03: S13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5045710" y="1283335"/>
            <a:ext cx="683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85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S13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85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5793740" y="1496695"/>
            <a:ext cx="327025" cy="12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4844415" y="1007110"/>
            <a:ext cx="18783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-3.75°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endParaRPr lang="pt-PT" altLang="en-US" i="1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-258.59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571115" y="149796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 mm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2463165" y="324485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2395855" y="224853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2395855" y="417512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43192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840-200</a:t>
            </a:r>
            <a:r>
              <a:rPr lang="pt-PT" altLang="en-US" baseline="30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*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860550" y="1496695"/>
            <a:ext cx="5715" cy="41344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424815" y="3379470"/>
            <a:ext cx="13976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= 3580 mm</a:t>
            </a:r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647690" y="1453515"/>
            <a:ext cx="81915" cy="81915"/>
          </a:xfrm>
          <a:prstGeom prst="ellipse">
            <a:avLst/>
          </a:prstGeom>
          <a:solidFill>
            <a:srgbClr val="CC0000"/>
          </a:solidFill>
          <a:effectLst>
            <a:glow rad="228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Text Box 29"/>
          <p:cNvSpPr txBox="1"/>
          <p:nvPr/>
        </p:nvSpPr>
        <p:spPr>
          <a:xfrm>
            <a:off x="621030" y="6489700"/>
            <a:ext cx="4367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 baseline="30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*</a:t>
            </a:r>
            <a:r>
              <a:rPr lang="pt-PT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No Comsol, a base começa em z = -200 mm</a:t>
            </a:r>
            <a:endParaRPr lang="pt-PT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52145"/>
          </a:xfrm>
        </p:spPr>
        <p:txBody>
          <a:bodyPr/>
          <a:p>
            <a:r>
              <a:rPr lang="pt-PT" altLang="en-US"/>
              <a:t>Simulação 3: Fonte S13</a:t>
            </a:r>
            <a:endParaRPr lang="pt-PT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50" y="1063625"/>
            <a:ext cx="4330700" cy="34588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37120" y="414655"/>
            <a:ext cx="3429000" cy="6029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70" y="4675505"/>
            <a:ext cx="4117975" cy="17437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35" y="5741035"/>
            <a:ext cx="621665" cy="7029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639445" y="232410"/>
            <a:ext cx="18230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04: S14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6172200" y="1496695"/>
            <a:ext cx="327025" cy="12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5405755" y="712470"/>
            <a:ext cx="1878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3.75°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258.59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571115" y="149796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 mm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2463165" y="324485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2395855" y="224853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2395855" y="417512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860550" y="1496695"/>
            <a:ext cx="5715" cy="41344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520065" y="3379470"/>
            <a:ext cx="13404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=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3580 mm</a:t>
            </a:r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511290" y="1453515"/>
            <a:ext cx="81915" cy="81915"/>
          </a:xfrm>
          <a:prstGeom prst="ellipse">
            <a:avLst/>
          </a:prstGeom>
          <a:solidFill>
            <a:srgbClr val="CC0000"/>
          </a:solidFill>
          <a:effectLst>
            <a:glow rad="228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6600190" y="1283335"/>
            <a:ext cx="683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85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S14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85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52145"/>
          </a:xfrm>
        </p:spPr>
        <p:txBody>
          <a:bodyPr/>
          <a:p>
            <a:r>
              <a:rPr lang="pt-PT" altLang="en-US"/>
              <a:t>Simulação 4: Fonte S14</a:t>
            </a:r>
            <a:endParaRPr lang="pt-PT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793750"/>
            <a:ext cx="4021455" cy="36061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40295" y="351790"/>
            <a:ext cx="3381375" cy="6010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085" y="4525010"/>
            <a:ext cx="4052570" cy="20935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5649595"/>
            <a:ext cx="5899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639445" y="232410"/>
            <a:ext cx="18230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Simulações 05: S15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7317740" y="1125855"/>
            <a:ext cx="683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85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S15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85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6168390" y="1533525"/>
            <a:ext cx="1236980" cy="381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5838190" y="1056640"/>
            <a:ext cx="18783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5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11.25°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endParaRPr lang="pt-PT" altLang="en-US" i="1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775.78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571115" y="149796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 mm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2463165" y="324485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2395855" y="224853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2395855" y="417512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860550" y="1496695"/>
            <a:ext cx="5715" cy="41344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639445" y="3379470"/>
            <a:ext cx="10528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3580 mm</a:t>
            </a:r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7405370" y="1494155"/>
            <a:ext cx="81915" cy="81915"/>
          </a:xfrm>
          <a:prstGeom prst="ellipse">
            <a:avLst/>
          </a:prstGeom>
          <a:solidFill>
            <a:srgbClr val="CC0000"/>
          </a:solidFill>
          <a:effectLst>
            <a:glow rad="228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4225925" cy="652145"/>
          </a:xfrm>
        </p:spPr>
        <p:txBody>
          <a:bodyPr/>
          <a:p>
            <a:r>
              <a:rPr lang="pt-PT" altLang="en-US"/>
              <a:t>Simulação 5: Fonte S15</a:t>
            </a:r>
            <a:endParaRPr lang="pt-PT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t="4822"/>
          <a:stretch>
            <a:fillRect/>
          </a:stretch>
        </p:blipFill>
        <p:spPr>
          <a:xfrm>
            <a:off x="948055" y="757555"/>
            <a:ext cx="3288665" cy="39839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" y="4741545"/>
            <a:ext cx="2388870" cy="20288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05" y="6120765"/>
            <a:ext cx="666750" cy="5429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953000" y="634365"/>
            <a:ext cx="3409950" cy="60293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8441690" y="629285"/>
            <a:ext cx="3381375" cy="603885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9930130" y="258445"/>
            <a:ext cx="474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ym typeface="+mn-ea"/>
              </a:rPr>
              <a:t>R2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6500495" y="258445"/>
            <a:ext cx="474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ym typeface="+mn-ea"/>
              </a:rPr>
              <a:t>R1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639445" y="232410"/>
            <a:ext cx="18230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08: Fonte S22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4365625" y="1928495"/>
            <a:ext cx="683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85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S22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85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4883785" y="2418715"/>
            <a:ext cx="1236980" cy="381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4627245" y="1965960"/>
            <a:ext cx="18783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-11.25°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endParaRPr lang="pt-PT" altLang="en-US" i="1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-775.78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395855" y="246380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 mm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2371725" y="324485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2395855" y="417512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860550" y="2437130"/>
            <a:ext cx="4445" cy="319405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436245" y="3379470"/>
            <a:ext cx="13404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=2740 mm</a:t>
            </a:r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4779645" y="2381885"/>
            <a:ext cx="81915" cy="81915"/>
          </a:xfrm>
          <a:prstGeom prst="ellipse">
            <a:avLst/>
          </a:prstGeom>
          <a:solidFill>
            <a:srgbClr val="CC0000"/>
          </a:solidFill>
          <a:effectLst>
            <a:glow rad="228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0" name="Straight Connector 29"/>
          <p:cNvCxnSpPr/>
          <p:nvPr/>
        </p:nvCxnSpPr>
        <p:spPr>
          <a:xfrm>
            <a:off x="1865630" y="2429510"/>
            <a:ext cx="2895600" cy="381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700" y="467360"/>
            <a:ext cx="3533775" cy="38887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120" y="4507865"/>
            <a:ext cx="3901440" cy="18097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20" y="5390515"/>
            <a:ext cx="827405" cy="927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80" y="2205355"/>
            <a:ext cx="753745" cy="7994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404100" y="414655"/>
            <a:ext cx="3371850" cy="60293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639445" y="232410"/>
            <a:ext cx="18230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10: S24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6184265" y="2432050"/>
            <a:ext cx="327025" cy="12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5408930" y="1527175"/>
            <a:ext cx="1878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3.75°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258.59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284730" y="265176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 mm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2284730" y="337947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2395855" y="417512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860550" y="2447290"/>
            <a:ext cx="4445" cy="318389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374015" y="3379470"/>
            <a:ext cx="13404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=2740 mm</a:t>
            </a:r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525260" y="2361565"/>
            <a:ext cx="81915" cy="81915"/>
          </a:xfrm>
          <a:prstGeom prst="ellipse">
            <a:avLst/>
          </a:prstGeom>
          <a:solidFill>
            <a:srgbClr val="CC0000"/>
          </a:solidFill>
          <a:effectLst>
            <a:glow rad="228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6593205" y="2172335"/>
            <a:ext cx="683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85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S24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85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>
            <a:off x="1856105" y="244348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130" y="461645"/>
            <a:ext cx="4390390" cy="34918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795" y="4415155"/>
            <a:ext cx="3307080" cy="19005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70" y="5321935"/>
            <a:ext cx="672465" cy="7454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877050" y="414020"/>
            <a:ext cx="3343275" cy="60293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639445" y="232410"/>
            <a:ext cx="18230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12: Fonte S26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6172200" y="2431415"/>
            <a:ext cx="2117090" cy="1714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6421120" y="1527175"/>
            <a:ext cx="1878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=18.75°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1293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284730" y="265176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 mm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2284730" y="337947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2395855" y="417512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860550" y="2447290"/>
            <a:ext cx="4445" cy="318389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639445" y="3379470"/>
            <a:ext cx="10528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2740 mm</a:t>
            </a:r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8299450" y="2406650"/>
            <a:ext cx="81915" cy="81915"/>
          </a:xfrm>
          <a:prstGeom prst="ellipse">
            <a:avLst/>
          </a:prstGeom>
          <a:solidFill>
            <a:srgbClr val="CC0000"/>
          </a:solidFill>
          <a:effectLst>
            <a:glow rad="228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9076690" y="1950085"/>
            <a:ext cx="683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85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S24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85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>
            <a:off x="1856105" y="244348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035" y="469900"/>
            <a:ext cx="3848100" cy="37522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010" y="4630420"/>
            <a:ext cx="2470150" cy="19151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0" y="5690870"/>
            <a:ext cx="457200" cy="381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703570" y="544830"/>
            <a:ext cx="3400425" cy="60007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9524365" y="1318895"/>
            <a:ext cx="2146935" cy="381317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7338060" y="101600"/>
            <a:ext cx="474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ym typeface="+mn-ea"/>
              </a:rPr>
              <a:t>R1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10445115" y="871855"/>
            <a:ext cx="474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ym typeface="+mn-ea"/>
              </a:rPr>
              <a:t>R2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557530" y="211455"/>
            <a:ext cx="22205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40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13: Fonte S31</a:t>
            </a:r>
            <a:endParaRPr lang="pt-PT" altLang="en-US" sz="24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385820" y="319024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S31</a:t>
            </a:r>
            <a:endParaRPr lang="pt-PT" altLang="en-US">
              <a:solidFill>
                <a:srgbClr val="C00000"/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3954145" y="3426460"/>
            <a:ext cx="2166620" cy="508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4242435" y="2734310"/>
            <a:ext cx="1878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-18.75°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-1293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284730" y="337947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 mm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2385695" y="424688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860550" y="3458845"/>
            <a:ext cx="8890" cy="217233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493395" y="4472940"/>
            <a:ext cx="12833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= 900 mm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840" y="308610"/>
            <a:ext cx="3723640" cy="34899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924300"/>
            <a:ext cx="3066415" cy="25565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0" y="4978400"/>
            <a:ext cx="711200" cy="682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986780" y="308610"/>
            <a:ext cx="3531870" cy="62058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461010"/>
            <a:ext cx="3749040" cy="32556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715" y="4062730"/>
            <a:ext cx="3210560" cy="24231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" y="5038090"/>
            <a:ext cx="741680" cy="6108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541770" y="404495"/>
            <a:ext cx="3400425" cy="60483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557530" y="211455"/>
            <a:ext cx="22205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40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15: Fonte S33</a:t>
            </a:r>
            <a:endParaRPr lang="pt-PT" altLang="en-US" sz="24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5031105" y="3189605"/>
            <a:ext cx="565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40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S33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40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5711825" y="3431540"/>
            <a:ext cx="408940" cy="63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20"/>
          <p:cNvSpPr txBox="1"/>
          <p:nvPr/>
        </p:nvSpPr>
        <p:spPr>
          <a:xfrm>
            <a:off x="2284730" y="337947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 mm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2385695" y="424688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860550" y="3458845"/>
            <a:ext cx="8890" cy="217233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520065" y="4472940"/>
            <a:ext cx="13404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=1900 mm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5247640" y="2544445"/>
            <a:ext cx="1878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-3.75°</a:t>
            </a:r>
            <a:endParaRPr lang="pt-PT" altLang="en-US" i="1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-258.59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557530" y="211455"/>
            <a:ext cx="22205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40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17: Fonte S35</a:t>
            </a:r>
            <a:endParaRPr lang="pt-PT" altLang="en-US" sz="24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7606665" y="3210560"/>
            <a:ext cx="565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40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S35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40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6120765" y="3431540"/>
            <a:ext cx="1297940" cy="12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20"/>
          <p:cNvSpPr txBox="1"/>
          <p:nvPr/>
        </p:nvSpPr>
        <p:spPr>
          <a:xfrm>
            <a:off x="2284730" y="337947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 mm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2385695" y="424688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 mm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860550" y="3458845"/>
            <a:ext cx="8890" cy="217233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23900" y="4472940"/>
            <a:ext cx="10528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1900 mm</a:t>
            </a: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6010910" y="2640330"/>
            <a:ext cx="1878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5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11.25°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775.78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428865" y="3391535"/>
            <a:ext cx="81915" cy="81915"/>
          </a:xfrm>
          <a:prstGeom prst="ellipse">
            <a:avLst/>
          </a:prstGeom>
          <a:solidFill>
            <a:srgbClr val="CC0000"/>
          </a:solidFill>
          <a:effectLst>
            <a:glow rad="228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95" y="295275"/>
            <a:ext cx="3993515" cy="35998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75" y="4018915"/>
            <a:ext cx="2296795" cy="26435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60" y="5570855"/>
            <a:ext cx="530860" cy="5899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568440" y="381000"/>
            <a:ext cx="3429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639445" y="232410"/>
            <a:ext cx="18230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20: Fonte S42</a:t>
            </a:r>
            <a:endParaRPr lang="pt-PT" altLang="en-US" sz="20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4159250" y="3989070"/>
            <a:ext cx="683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85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S42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85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4861560" y="4357370"/>
            <a:ext cx="1236980" cy="381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4540885" y="4477385"/>
            <a:ext cx="1878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-11.25°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-775.78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075180" y="440245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 mm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860550" y="4338955"/>
            <a:ext cx="1270" cy="129222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23900" y="4953635"/>
            <a:ext cx="10528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1060 mm</a:t>
            </a:r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4761230" y="4320540"/>
            <a:ext cx="81915" cy="81915"/>
          </a:xfrm>
          <a:prstGeom prst="ellipse">
            <a:avLst/>
          </a:prstGeom>
          <a:solidFill>
            <a:srgbClr val="CC0000"/>
          </a:solidFill>
          <a:effectLst>
            <a:glow rad="228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0" name="Straight Connector 29"/>
          <p:cNvCxnSpPr/>
          <p:nvPr/>
        </p:nvCxnSpPr>
        <p:spPr>
          <a:xfrm>
            <a:off x="2070100" y="4361180"/>
            <a:ext cx="2895600" cy="381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240" y="329565"/>
            <a:ext cx="4472940" cy="39287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" y="1948180"/>
            <a:ext cx="704850" cy="6908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870" y="4439920"/>
            <a:ext cx="2520315" cy="22021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090" y="5433695"/>
            <a:ext cx="732155" cy="7181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368540" y="414020"/>
            <a:ext cx="3381375" cy="60293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639445" y="232410"/>
            <a:ext cx="18230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22: Fonte S44</a:t>
            </a:r>
            <a:endParaRPr lang="pt-PT" altLang="en-US" sz="20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7007225" y="4152900"/>
            <a:ext cx="683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85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S44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85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6098540" y="4359275"/>
            <a:ext cx="56388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20"/>
          <p:cNvSpPr txBox="1"/>
          <p:nvPr/>
        </p:nvSpPr>
        <p:spPr>
          <a:xfrm>
            <a:off x="2075180" y="440245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 mm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860550" y="4338955"/>
            <a:ext cx="1270" cy="129222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436245" y="4890135"/>
            <a:ext cx="13404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=1060 mm</a:t>
            </a:r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662420" y="4318000"/>
            <a:ext cx="81915" cy="81915"/>
          </a:xfrm>
          <a:prstGeom prst="ellipse">
            <a:avLst/>
          </a:prstGeom>
          <a:solidFill>
            <a:srgbClr val="CC0000"/>
          </a:solidFill>
          <a:effectLst>
            <a:glow rad="228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0" name="Straight Connector 29"/>
          <p:cNvCxnSpPr/>
          <p:nvPr/>
        </p:nvCxnSpPr>
        <p:spPr>
          <a:xfrm>
            <a:off x="1943100" y="4351020"/>
            <a:ext cx="4013835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1"/>
          <p:cNvSpPr txBox="1"/>
          <p:nvPr/>
        </p:nvSpPr>
        <p:spPr>
          <a:xfrm>
            <a:off x="5441315" y="3599180"/>
            <a:ext cx="1878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3.75°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258.59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40" y="273685"/>
            <a:ext cx="4276725" cy="36315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475" y="4053840"/>
            <a:ext cx="2057400" cy="24460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330" y="5436870"/>
            <a:ext cx="1016635" cy="736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337300" y="512445"/>
            <a:ext cx="3419475" cy="60579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639445" y="232410"/>
            <a:ext cx="18230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00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24: Fonte S46</a:t>
            </a:r>
            <a:endParaRPr lang="pt-PT" altLang="en-US" sz="20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8132445" y="3599180"/>
            <a:ext cx="683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85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S46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85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6098540" y="4361180"/>
            <a:ext cx="2178685" cy="69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20"/>
          <p:cNvSpPr txBox="1"/>
          <p:nvPr/>
        </p:nvSpPr>
        <p:spPr>
          <a:xfrm>
            <a:off x="2075180" y="4402455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 mm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840-200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860550" y="4338955"/>
            <a:ext cx="1270" cy="129222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23900" y="4953635"/>
            <a:ext cx="10528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1060 mm</a:t>
            </a:r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8289290" y="4309745"/>
            <a:ext cx="81915" cy="81915"/>
          </a:xfrm>
          <a:prstGeom prst="ellipse">
            <a:avLst/>
          </a:prstGeom>
          <a:solidFill>
            <a:srgbClr val="CC0000"/>
          </a:solidFill>
          <a:effectLst>
            <a:glow rad="228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0" name="Straight Connector 29"/>
          <p:cNvCxnSpPr/>
          <p:nvPr/>
        </p:nvCxnSpPr>
        <p:spPr>
          <a:xfrm>
            <a:off x="1943100" y="4351020"/>
            <a:ext cx="4013835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6254115" y="3460750"/>
            <a:ext cx="1878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18.75°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1293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535" y="211455"/>
            <a:ext cx="4350385" cy="40239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4406900"/>
            <a:ext cx="2036445" cy="22663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290" y="5467350"/>
            <a:ext cx="811530" cy="6959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933565" y="338455"/>
            <a:ext cx="3371850" cy="60579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557530" y="211455"/>
            <a:ext cx="22205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40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25: Fonte S51</a:t>
            </a:r>
            <a:endParaRPr lang="pt-PT" altLang="en-US" sz="24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691890" y="4764405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40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S51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40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3963035" y="5342255"/>
            <a:ext cx="2166620" cy="508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4169410" y="4487545"/>
            <a:ext cx="1878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-18.75°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-1293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1"/>
          </p:cNvCxnSpPr>
          <p:nvPr/>
        </p:nvCxnSpPr>
        <p:spPr>
          <a:xfrm flipH="1">
            <a:off x="1860550" y="5253355"/>
            <a:ext cx="5080" cy="37782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1"/>
          <p:cNvSpPr txBox="1"/>
          <p:nvPr/>
        </p:nvSpPr>
        <p:spPr>
          <a:xfrm>
            <a:off x="557530" y="5211445"/>
            <a:ext cx="12261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=220 mm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360" y="513715"/>
            <a:ext cx="3416935" cy="33089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190" y="4135755"/>
            <a:ext cx="1997710" cy="24593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5192395"/>
            <a:ext cx="704850" cy="6121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140450" y="394970"/>
            <a:ext cx="3324225" cy="60674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557530" y="211455"/>
            <a:ext cx="22205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40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27: Fonte S53</a:t>
            </a:r>
            <a:endParaRPr lang="pt-PT" altLang="en-US" sz="24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4749800" y="5163185"/>
            <a:ext cx="849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40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S53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40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5671185" y="5347335"/>
            <a:ext cx="458470" cy="63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24"/>
          <p:cNvSpPr txBox="1"/>
          <p:nvPr/>
        </p:nvSpPr>
        <p:spPr>
          <a:xfrm>
            <a:off x="1865630" y="5069205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1"/>
          </p:cNvCxnSpPr>
          <p:nvPr/>
        </p:nvCxnSpPr>
        <p:spPr>
          <a:xfrm flipH="1">
            <a:off x="1860550" y="5253355"/>
            <a:ext cx="5080" cy="37782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1"/>
          <p:cNvSpPr txBox="1"/>
          <p:nvPr/>
        </p:nvSpPr>
        <p:spPr>
          <a:xfrm>
            <a:off x="723900" y="5207000"/>
            <a:ext cx="938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220 mm</a:t>
            </a:r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4749800" y="4244975"/>
            <a:ext cx="1878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-3.75°</a:t>
            </a:r>
            <a:endParaRPr lang="pt-PT" altLang="en-US" i="1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-258.59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290195"/>
            <a:ext cx="4121150" cy="37261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910" y="4016375"/>
            <a:ext cx="2332990" cy="27597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650" y="5411470"/>
            <a:ext cx="780415" cy="5924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888480" y="390525"/>
            <a:ext cx="3400425" cy="60769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260" y="342900"/>
            <a:ext cx="5626100" cy="606234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3483610" y="985520"/>
            <a:ext cx="5287645" cy="4819650"/>
            <a:chOff x="11325" y="1867"/>
            <a:chExt cx="6774" cy="8244"/>
          </a:xfrm>
        </p:grpSpPr>
        <p:grpSp>
          <p:nvGrpSpPr>
            <p:cNvPr id="12" name="Group 11"/>
            <p:cNvGrpSpPr/>
            <p:nvPr/>
          </p:nvGrpSpPr>
          <p:grpSpPr>
            <a:xfrm>
              <a:off x="11325" y="1867"/>
              <a:ext cx="6774" cy="1649"/>
              <a:chOff x="11325" y="1867"/>
              <a:chExt cx="6774" cy="2588"/>
            </a:xfrm>
          </p:grpSpPr>
          <p:sp>
            <p:nvSpPr>
              <p:cNvPr id="2" name="Rectangles 1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" name="Rectangles 2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ctangles 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ctangles 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1325" y="3517"/>
              <a:ext cx="6774" cy="1649"/>
              <a:chOff x="11325" y="1867"/>
              <a:chExt cx="6774" cy="25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s 49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1" name="Rectangles 50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2" name="Rectangles 51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3" name="Rectangles 52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4" name="Rectangles 53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1325" y="5163"/>
              <a:ext cx="6774" cy="1649"/>
              <a:chOff x="11325" y="1867"/>
              <a:chExt cx="6774" cy="2588"/>
            </a:xfrm>
          </p:grpSpPr>
          <p:sp>
            <p:nvSpPr>
              <p:cNvPr id="56" name="Rectangles 55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7" name="Rectangles 56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9" name="Rectangles 58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1325" y="6813"/>
              <a:ext cx="6774" cy="1649"/>
              <a:chOff x="11325" y="1867"/>
              <a:chExt cx="6774" cy="2588"/>
            </a:xfrm>
          </p:grpSpPr>
          <p:sp>
            <p:nvSpPr>
              <p:cNvPr id="63" name="Rectangles 62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4" name="Rectangles 63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5" name="Rectangles 64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6" name="Rectangles 65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7" name="Rectangles 66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1325" y="8463"/>
              <a:ext cx="6774" cy="1649"/>
              <a:chOff x="11325" y="1867"/>
              <a:chExt cx="6774" cy="2588"/>
            </a:xfrm>
          </p:grpSpPr>
          <p:sp>
            <p:nvSpPr>
              <p:cNvPr id="70" name="Rectangles 69"/>
              <p:cNvSpPr/>
              <p:nvPr/>
            </p:nvSpPr>
            <p:spPr>
              <a:xfrm>
                <a:off x="1132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245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3585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470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Rectangles 73"/>
              <p:cNvSpPr/>
              <p:nvPr/>
            </p:nvSpPr>
            <p:spPr>
              <a:xfrm>
                <a:off x="1583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5" name="Rectangles 74"/>
              <p:cNvSpPr/>
              <p:nvPr/>
            </p:nvSpPr>
            <p:spPr>
              <a:xfrm>
                <a:off x="16969" y="1867"/>
                <a:ext cx="1130" cy="2589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sp>
        <p:nvSpPr>
          <p:cNvPr id="10" name="Text Box 9"/>
          <p:cNvSpPr txBox="1"/>
          <p:nvPr/>
        </p:nvSpPr>
        <p:spPr>
          <a:xfrm>
            <a:off x="8978265" y="5132705"/>
            <a:ext cx="1484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840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58585" y="6014085"/>
            <a:ext cx="367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7.5°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7.5*(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p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/180)*3951 = 517,18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076690" y="59055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D</a:t>
            </a:r>
            <a:r>
              <a:rPr lang="pt-PT" altLang="en-US" i="1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r </a:t>
            </a:r>
            <a:r>
              <a:rPr lang="pt-PT" altLang="en-US">
                <a:solidFill>
                  <a:srgbClr val="C00000"/>
                </a:solidFill>
                <a:latin typeface="Symbol" panose="05050102010706020507" charset="0"/>
                <a:cs typeface="Symbol" panose="05050102010706020507" charset="0"/>
                <a:sym typeface="+mn-ea"/>
              </a:rPr>
              <a:t>= </a:t>
            </a:r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141 mm</a:t>
            </a:r>
            <a:endParaRPr lang="pt-PT" alt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765540" y="580390"/>
            <a:ext cx="50800" cy="405130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963025" y="4890135"/>
            <a:ext cx="5715" cy="90868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947785" y="590550"/>
            <a:ext cx="30480" cy="39497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848600" y="5972175"/>
            <a:ext cx="892810" cy="190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557530" y="211455"/>
            <a:ext cx="22205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 sz="240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Simulação 29: Fonte S55</a:t>
            </a:r>
            <a:endParaRPr lang="pt-PT" altLang="en-US" sz="24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7583170" y="5160010"/>
            <a:ext cx="149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PT" altLang="en-US">
                <a:solidFill>
                  <a:srgbClr val="C00000"/>
                </a:solidFill>
                <a:effectLst>
                  <a:glow rad="228600">
                    <a:schemeClr val="bg1">
                      <a:alpha val="40000"/>
                    </a:schemeClr>
                  </a:glo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S55</a:t>
            </a:r>
            <a:endParaRPr lang="pt-PT" altLang="en-US">
              <a:solidFill>
                <a:srgbClr val="C00000"/>
              </a:solidFill>
              <a:effectLst>
                <a:glow rad="228600">
                  <a:schemeClr val="bg1">
                    <a:alpha val="40000"/>
                  </a:schemeClr>
                </a:glo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6129655" y="5344160"/>
            <a:ext cx="1309370" cy="3175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24"/>
          <p:cNvSpPr txBox="1"/>
          <p:nvPr/>
        </p:nvSpPr>
        <p:spPr>
          <a:xfrm>
            <a:off x="2011680" y="5234940"/>
            <a:ext cx="1357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420-200 mm</a:t>
            </a:r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76730" y="5626100"/>
            <a:ext cx="3618230" cy="508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859280" y="5267960"/>
            <a:ext cx="1270" cy="363220"/>
          </a:xfrm>
          <a:prstGeom prst="straightConnector1">
            <a:avLst/>
          </a:prstGeom>
          <a:ln>
            <a:solidFill>
              <a:srgbClr val="CC0000"/>
            </a:solidFill>
            <a:headEnd type="arrow"/>
            <a:tailEnd type="arrow"/>
          </a:ln>
          <a:effectLst>
            <a:glow rad="88900">
              <a:schemeClr val="bg1">
                <a:alpha val="9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488950" y="5234940"/>
            <a:ext cx="12833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pt-PT" altLang="en-US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 = 220 mm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6010910" y="4514850"/>
            <a:ext cx="1878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f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5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Symbol" panose="05050102010706020507" charset="0"/>
                <a:cs typeface="Symbol" panose="05050102010706020507" charset="0"/>
                <a:sym typeface="+mn-ea"/>
              </a:rPr>
              <a:t>= 11.25°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Symbol" panose="05050102010706020507" charset="0"/>
              <a:cs typeface="Symbol" panose="05050102010706020507" charset="0"/>
              <a:sym typeface="+mn-ea"/>
            </a:endParaRPr>
          </a:p>
          <a:p>
            <a:pPr algn="ctr"/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pt-PT" altLang="en-US" i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r>
              <a:rPr lang="pt-PT" altLang="en-US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pt-PT" altLang="en-US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= 775.78 mm</a:t>
            </a:r>
            <a:endParaRPr lang="pt-PT" altLang="en-US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1776730" y="5281930"/>
            <a:ext cx="4139565" cy="6350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410" y="233680"/>
            <a:ext cx="4397375" cy="39458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9583"/>
          <a:stretch>
            <a:fillRect/>
          </a:stretch>
        </p:blipFill>
        <p:spPr>
          <a:xfrm>
            <a:off x="3221355" y="4179570"/>
            <a:ext cx="2682240" cy="25044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5228590"/>
            <a:ext cx="882015" cy="7816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956425" y="233680"/>
            <a:ext cx="3409950" cy="6048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3102</Words>
  <Application>WPS Presentation</Application>
  <PresentationFormat>宽屏</PresentationFormat>
  <Paragraphs>551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2" baseType="lpstr">
      <vt:lpstr>Arial</vt:lpstr>
      <vt:lpstr>SimSun</vt:lpstr>
      <vt:lpstr>Wingdings</vt:lpstr>
      <vt:lpstr>Symbol</vt:lpstr>
      <vt:lpstr>Times New Roman</vt:lpstr>
      <vt:lpstr>BatangChe</vt:lpstr>
      <vt:lpstr>C059</vt:lpstr>
      <vt:lpstr>Adwaita Mono</vt:lpstr>
      <vt:lpstr>Microsoft YaHei</vt:lpstr>
      <vt:lpstr>Arial Unicode MS</vt:lpstr>
      <vt:lpstr>Arial Black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Simulação 1: Fonte S11</vt:lpstr>
      <vt:lpstr>PowerPoint 演示文稿</vt:lpstr>
      <vt:lpstr>Simulação 2: Fonte S12</vt:lpstr>
      <vt:lpstr>PowerPoint 演示文稿</vt:lpstr>
      <vt:lpstr>Simulação 3: Fonte S13</vt:lpstr>
      <vt:lpstr>PowerPoint 演示文稿</vt:lpstr>
      <vt:lpstr>Simulação 3: Fonte S14</vt:lpstr>
      <vt:lpstr>PowerPoint 演示文稿</vt:lpstr>
      <vt:lpstr>Simulação 5: Fonte S15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licinius</dc:creator>
  <cp:lastModifiedBy>licinius</cp:lastModifiedBy>
  <cp:revision>158</cp:revision>
  <dcterms:created xsi:type="dcterms:W3CDTF">2025-10-23T13:24:47Z</dcterms:created>
  <dcterms:modified xsi:type="dcterms:W3CDTF">2025-10-23T13:24:47Z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1033-11.1.0.11719</vt:lpwstr>
  </property>
  <property fmtid="{D5CDD505-2E9C-101B-9397-08002B2CF9AE}" pid="3" name="ICV">
    <vt:lpwstr/>
  </property>
</Properties>
</file>